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sldIdLst>
    <p:sldId id="256" r:id="rId5"/>
    <p:sldId id="257" r:id="rId6"/>
    <p:sldId id="266" r:id="rId7"/>
    <p:sldId id="259" r:id="rId8"/>
    <p:sldId id="263" r:id="rId9"/>
    <p:sldId id="264" r:id="rId10"/>
    <p:sldId id="262" r:id="rId11"/>
  </p:sldIdLst>
  <p:sldSz cx="12192000" cy="6858000"/>
  <p:notesSz cx="6858000" cy="9144000"/>
  <p:defaultTextStyle>
    <a:defPPr>
      <a:defRPr lang="sk-S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 varScale="1">
        <p:scale>
          <a:sx n="67" d="100"/>
          <a:sy n="67" d="100"/>
        </p:scale>
        <p:origin x="645" y="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62837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6263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432498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483293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70964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39817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8267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23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3694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04941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57005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3/17/2026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5912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Obrázok, na ktorom je snímka obrazovky, pestrofarebnosť, umenie, vzor&#10;&#10;Obsah vygenerovaný pomocou AI môže byť nesprávny.">
            <a:extLst>
              <a:ext uri="{FF2B5EF4-FFF2-40B4-BE49-F238E27FC236}">
                <a16:creationId xmlns:a16="http://schemas.microsoft.com/office/drawing/2014/main" id="{39FF2CBF-9B33-605F-1DA4-83A9FCC3AE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 t="31506" b="12244"/>
          <a:stretch>
            <a:fillRect/>
          </a:stretch>
        </p:blipFill>
        <p:spPr>
          <a:xfrm>
            <a:off x="1" y="-2"/>
            <a:ext cx="12191999" cy="6857999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</a:effectLst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72E284DE-AB43-1296-3166-892F44A3A2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6D316987-10E1-8667-A311-5ACF6A5DB77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090" y="1715389"/>
            <a:ext cx="9932132" cy="3640303"/>
          </a:xfrm>
        </p:spPr>
        <p:txBody>
          <a:bodyPr anchor="t">
            <a:normAutofit/>
          </a:bodyPr>
          <a:lstStyle/>
          <a:p>
            <a:r>
              <a:rPr lang="sk-SK" sz="6000" dirty="0">
                <a:solidFill>
                  <a:srgbClr val="FFFFFF"/>
                </a:solidFill>
              </a:rPr>
              <a:t>Využitie umelej inteligencie pri vývoji softvéru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11D4E783-F86D-C918-7762-C1C0611979D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49"/>
            <a:ext cx="6568504" cy="1104887"/>
          </a:xfrm>
        </p:spPr>
        <p:txBody>
          <a:bodyPr anchor="t">
            <a:noAutofit/>
          </a:bodyPr>
          <a:lstStyle/>
          <a:p>
            <a:r>
              <a:rPr lang="sk-SK" sz="2000" dirty="0">
                <a:solidFill>
                  <a:srgbClr val="FFFFFF"/>
                </a:solidFill>
              </a:rPr>
              <a:t>Samuel Sokol</a:t>
            </a:r>
          </a:p>
          <a:p>
            <a:r>
              <a:rPr lang="sk-SK" sz="2000" dirty="0">
                <a:solidFill>
                  <a:srgbClr val="FFFFFF"/>
                </a:solidFill>
              </a:rPr>
              <a:t>Školiteľ: </a:t>
            </a:r>
            <a:r>
              <a:rPr lang="sv-SE" sz="2000" dirty="0"/>
              <a:t>doc. Ing. Ivan Polášek, PhD</a:t>
            </a:r>
            <a:r>
              <a:rPr lang="sv-SE" sz="2000" b="0" dirty="0"/>
              <a:t>.</a:t>
            </a:r>
            <a:endParaRPr lang="sk-SK" sz="20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036523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uiExpand="1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4A7E0EE-A7DC-51CA-F7F0-1E599DD362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993" y="1365166"/>
            <a:ext cx="10890929" cy="1097280"/>
          </a:xfrm>
        </p:spPr>
        <p:txBody>
          <a:bodyPr>
            <a:normAutofit/>
          </a:bodyPr>
          <a:lstStyle/>
          <a:p>
            <a:r>
              <a:rPr lang="sk-SK" sz="5000" dirty="0">
                <a:solidFill>
                  <a:schemeClr val="bg1"/>
                </a:solidFill>
              </a:rPr>
              <a:t>Kontext problému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60AB0F65-A22A-B1B7-35BD-5F3D7D937F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60994" y="2662545"/>
            <a:ext cx="10890928" cy="4554701"/>
          </a:xfrm>
        </p:spPr>
        <p:txBody>
          <a:bodyPr>
            <a:normAutofit/>
          </a:bodyPr>
          <a:lstStyle/>
          <a:p>
            <a:r>
              <a:rPr lang="sk-SK" sz="2500" b="1" dirty="0">
                <a:solidFill>
                  <a:schemeClr val="bg1"/>
                </a:solidFill>
              </a:rPr>
              <a:t>Posun od manuálneho vývoja k AI-asistovanému programovaniu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LLM ako generátory kódu, dokumentácie a návrhov riešení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Zmena roly vývojára – od implementácie k riadeniu a validácii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Obmedzenia súčasných modelov pri komplexných systémoch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Smerovanie k agentickým a autonómnym AI systémom</a:t>
            </a:r>
          </a:p>
          <a:p>
            <a:endParaRPr lang="sk-SK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9691549"/>
      </p:ext>
    </p:extLst>
  </p:cSld>
  <p:clrMapOvr>
    <a:masterClrMapping/>
  </p:clrMapOvr>
  <p:transition spd="med">
    <p:pull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64ACF-8F14-2D70-574E-04B27FE138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CA9AEA4-02C5-C759-E3C4-AFC419CFD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400883"/>
            <a:ext cx="10890929" cy="1097280"/>
          </a:xfrm>
        </p:spPr>
        <p:txBody>
          <a:bodyPr>
            <a:normAutofit/>
          </a:bodyPr>
          <a:lstStyle/>
          <a:p>
            <a:r>
              <a:rPr lang="sk-SK" sz="5000" dirty="0">
                <a:solidFill>
                  <a:schemeClr val="bg1"/>
                </a:solidFill>
              </a:rPr>
              <a:t>Prístupy k zlepšeniu generovania kódu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06B3F5D-51E8-FAE7-14E3-4198F0F7AD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776844"/>
            <a:ext cx="10890928" cy="4554701"/>
          </a:xfrm>
        </p:spPr>
        <p:txBody>
          <a:bodyPr>
            <a:normAutofit/>
          </a:bodyPr>
          <a:lstStyle/>
          <a:p>
            <a:r>
              <a:rPr lang="sk-SK" sz="2500" b="1" dirty="0">
                <a:solidFill>
                  <a:schemeClr val="bg1"/>
                </a:solidFill>
              </a:rPr>
              <a:t>Prompt engineering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In-context learning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Chain-of-Thought prístup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Fine-tuning a doménová adaptácia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Retrieval-Augmented Generation (RAG)</a:t>
            </a:r>
          </a:p>
          <a:p>
            <a:endParaRPr lang="sk-SK" sz="2500" dirty="0">
              <a:solidFill>
                <a:schemeClr val="bg1"/>
              </a:solidFill>
            </a:endParaRPr>
          </a:p>
          <a:p>
            <a:endParaRPr lang="sk-SK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88856438"/>
      </p:ext>
    </p:extLst>
  </p:cSld>
  <p:clrMapOvr>
    <a:masterClrMapping/>
  </p:clrMapOvr>
  <p:transition spd="med">
    <p:pull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AD5128-B43E-D578-BDC1-C9B179658E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B7A802D-F5FC-A5C7-A613-18412A39FC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8" y="1206019"/>
            <a:ext cx="10890929" cy="1097280"/>
          </a:xfrm>
        </p:spPr>
        <p:txBody>
          <a:bodyPr>
            <a:normAutofit/>
          </a:bodyPr>
          <a:lstStyle/>
          <a:p>
            <a:r>
              <a:rPr lang="sk-SK" sz="5000" dirty="0">
                <a:solidFill>
                  <a:schemeClr val="bg1"/>
                </a:solidFill>
              </a:rPr>
              <a:t>Cieľ práce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F6AB18E-A40A-4A5E-7D28-2D74ED4B7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9" y="2292023"/>
            <a:ext cx="10890928" cy="4554701"/>
          </a:xfrm>
        </p:spPr>
        <p:txBody>
          <a:bodyPr>
            <a:normAutofit/>
          </a:bodyPr>
          <a:lstStyle/>
          <a:p>
            <a:r>
              <a:rPr lang="sk-SK" sz="2500" b="1" dirty="0" err="1">
                <a:solidFill>
                  <a:schemeClr val="bg1"/>
                </a:solidFill>
              </a:rPr>
              <a:t>Agentický</a:t>
            </a:r>
            <a:r>
              <a:rPr lang="sk-SK" sz="2500" b="1" dirty="0">
                <a:solidFill>
                  <a:schemeClr val="bg1"/>
                </a:solidFill>
              </a:rPr>
              <a:t> AI systém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Transformácia zadania na prípad použitia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Rozklad na funkčné jednotky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Generovanie implementácií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Validácia funkcií a programu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Integrácia výsledného riešenia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Využitie GraphRAG znalostnej bázy a jej dopĺňanie </a:t>
            </a:r>
          </a:p>
          <a:p>
            <a:pPr marL="0" indent="0">
              <a:buNone/>
            </a:pPr>
            <a:endParaRPr lang="sk-SK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96101097"/>
      </p:ext>
    </p:extLst>
  </p:cSld>
  <p:clrMapOvr>
    <a:masterClrMapping/>
  </p:clrMapOvr>
  <p:transition spd="med">
    <p:pull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827A6-DA40-E7CC-55DB-D36739E086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5BF6DEA-4200-01A9-9ACA-49D3E78C16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50535" y="1102160"/>
            <a:ext cx="10890929" cy="1097280"/>
          </a:xfrm>
        </p:spPr>
        <p:txBody>
          <a:bodyPr>
            <a:normAutofit/>
          </a:bodyPr>
          <a:lstStyle/>
          <a:p>
            <a:r>
              <a:rPr lang="sk-SK" sz="5000" dirty="0">
                <a:solidFill>
                  <a:schemeClr val="bg1"/>
                </a:solidFill>
              </a:rPr>
              <a:t>Aktuálny stav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76FB301B-5277-1B6F-5CEE-3D318842F5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363799" y="1942161"/>
            <a:ext cx="4828201" cy="5160102"/>
          </a:xfrm>
        </p:spPr>
        <p:txBody>
          <a:bodyPr>
            <a:normAutofit/>
          </a:bodyPr>
          <a:lstStyle/>
          <a:p>
            <a:r>
              <a:rPr lang="sk-SK" sz="2500" b="1" dirty="0">
                <a:solidFill>
                  <a:schemeClr val="bg1"/>
                </a:solidFill>
              </a:rPr>
              <a:t>Vypracovaná analytická kapitola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Implementovaná prvá verzia </a:t>
            </a:r>
            <a:r>
              <a:rPr lang="sk-SK" sz="2500" b="1" dirty="0" err="1">
                <a:solidFill>
                  <a:schemeClr val="bg1"/>
                </a:solidFill>
              </a:rPr>
              <a:t>pipeline</a:t>
            </a:r>
            <a:endParaRPr lang="sk-SK" sz="2500" b="1" dirty="0">
              <a:solidFill>
                <a:schemeClr val="bg1"/>
              </a:solidFill>
            </a:endParaRPr>
          </a:p>
          <a:p>
            <a:r>
              <a:rPr lang="sk-SK" sz="2500" b="1" dirty="0">
                <a:solidFill>
                  <a:schemeClr val="bg1"/>
                </a:solidFill>
              </a:rPr>
              <a:t>Funkčné generovanie, validácia funkcií a integrácia funkcií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Integrácia </a:t>
            </a:r>
            <a:r>
              <a:rPr lang="sk-SK" sz="2500" b="1" dirty="0" err="1">
                <a:solidFill>
                  <a:schemeClr val="bg1"/>
                </a:solidFill>
              </a:rPr>
              <a:t>GraphRAG</a:t>
            </a:r>
            <a:endParaRPr lang="sk-SK" sz="2500" b="1" dirty="0">
              <a:solidFill>
                <a:schemeClr val="bg1"/>
              </a:solidFill>
            </a:endParaRPr>
          </a:p>
          <a:p>
            <a:r>
              <a:rPr lang="sk-SK" sz="2500" b="1" dirty="0">
                <a:solidFill>
                  <a:schemeClr val="bg1"/>
                </a:solidFill>
              </a:rPr>
              <a:t>Dopĺňanie znalostnej bázy</a:t>
            </a:r>
          </a:p>
        </p:txBody>
      </p:sp>
      <p:pic>
        <p:nvPicPr>
          <p:cNvPr id="5" name="Obrázok 4">
            <a:extLst>
              <a:ext uri="{FF2B5EF4-FFF2-40B4-BE49-F238E27FC236}">
                <a16:creationId xmlns:a16="http://schemas.microsoft.com/office/drawing/2014/main" id="{CC08036D-5F48-D79A-8154-AE6489F3EB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0535" y="2088705"/>
            <a:ext cx="6346260" cy="3994558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76200" cap="sq">
            <a:solidFill>
              <a:srgbClr val="EAEAEA"/>
            </a:solidFill>
            <a:miter lim="800000"/>
          </a:ln>
          <a:effectLst>
            <a:reflection blurRad="12700" stA="33000" endPos="28000" dist="5000" dir="5400000" sy="-100000" algn="bl" rotWithShape="0"/>
          </a:effectLst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</p:pic>
    </p:spTree>
    <p:extLst>
      <p:ext uri="{BB962C8B-B14F-4D97-AF65-F5344CB8AC3E}">
        <p14:creationId xmlns:p14="http://schemas.microsoft.com/office/powerpoint/2010/main" val="3413734222"/>
      </p:ext>
    </p:extLst>
  </p:cSld>
  <p:clrMapOvr>
    <a:masterClrMapping/>
  </p:clrMapOvr>
  <p:transition spd="med">
    <p:pull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A998F1-5261-87B3-ABCF-4D7E56995C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A3A9AE8-31E6-8EA0-4FD4-A571EE2B8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7" y="1443618"/>
            <a:ext cx="10890929" cy="1097280"/>
          </a:xfrm>
        </p:spPr>
        <p:txBody>
          <a:bodyPr>
            <a:normAutofit/>
          </a:bodyPr>
          <a:lstStyle/>
          <a:p>
            <a:r>
              <a:rPr lang="sk-SK" sz="5000" dirty="0">
                <a:solidFill>
                  <a:schemeClr val="bg1"/>
                </a:solidFill>
              </a:rPr>
              <a:t>Plánované doplnenie</a:t>
            </a:r>
          </a:p>
        </p:txBody>
      </p: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388B146F-F109-C0C3-9768-A3A49FC129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78" y="2825499"/>
            <a:ext cx="10890928" cy="4554701"/>
          </a:xfrm>
        </p:spPr>
        <p:txBody>
          <a:bodyPr>
            <a:normAutofit/>
          </a:bodyPr>
          <a:lstStyle/>
          <a:p>
            <a:r>
              <a:rPr lang="sk-SK" sz="2500" b="1" dirty="0">
                <a:solidFill>
                  <a:schemeClr val="bg1"/>
                </a:solidFill>
              </a:rPr>
              <a:t>Zdokonalenie súčasnej verzie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Návrh testovacích scenárov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Definovanie metrík kvality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Porovnanie s klasickým LLM prístupom</a:t>
            </a:r>
          </a:p>
          <a:p>
            <a:r>
              <a:rPr lang="sk-SK" sz="2500" b="1" dirty="0">
                <a:solidFill>
                  <a:schemeClr val="bg1"/>
                </a:solidFill>
              </a:rPr>
              <a:t>Vyhodnotenie úspešnosti</a:t>
            </a:r>
          </a:p>
          <a:p>
            <a:endParaRPr lang="sk-SK" sz="25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047848"/>
      </p:ext>
    </p:extLst>
  </p:cSld>
  <p:clrMapOvr>
    <a:masterClrMapping/>
  </p:clrMapOvr>
  <p:transition spd="med">
    <p:pull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969E0A-CB78-DA04-F77B-53620D61D0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EFEAC617-E2FA-89E3-1D3A-D92B80F13B0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Grandview Display"/>
              <a:ea typeface="+mn-ea"/>
              <a:cs typeface="+mn-cs"/>
            </a:endParaRPr>
          </a:p>
        </p:txBody>
      </p:sp>
      <p:pic>
        <p:nvPicPr>
          <p:cNvPr id="4" name="Picture 3" descr="Obrázok, na ktorom je snímka obrazovky, pestrofarebnosť, umenie, vzor&#10;&#10;Obsah vygenerovaný pomocou AI môže byť nesprávny.">
            <a:extLst>
              <a:ext uri="{FF2B5EF4-FFF2-40B4-BE49-F238E27FC236}">
                <a16:creationId xmlns:a16="http://schemas.microsoft.com/office/drawing/2014/main" id="{F7E3E171-8C8D-8452-F6A2-4DAB13E705D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20000"/>
                    </a14:imgEffect>
                  </a14:imgLayer>
                </a14:imgProps>
              </a:ext>
            </a:extLst>
          </a:blip>
          <a:srcRect t="31506" b="12244"/>
          <a:stretch>
            <a:fillRect/>
          </a:stretch>
        </p:blipFill>
        <p:spPr>
          <a:xfrm>
            <a:off x="1" y="1"/>
            <a:ext cx="12191999" cy="6857999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F2FCD9D8-7503-14DF-59A7-52F6D09A1E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-173183" y="173181"/>
            <a:ext cx="6858002" cy="6511640"/>
          </a:xfrm>
          <a:prstGeom prst="rect">
            <a:avLst/>
          </a:prstGeom>
          <a:gradFill>
            <a:gsLst>
              <a:gs pos="0">
                <a:schemeClr val="bg1">
                  <a:alpha val="0"/>
                </a:schemeClr>
              </a:gs>
              <a:gs pos="46000">
                <a:schemeClr val="bg1">
                  <a:alpha val="30000"/>
                </a:schemeClr>
              </a:gs>
              <a:gs pos="26000">
                <a:schemeClr val="bg1">
                  <a:alpha val="17000"/>
                </a:schemeClr>
              </a:gs>
              <a:gs pos="100000">
                <a:schemeClr val="bg1">
                  <a:alpha val="45000"/>
                </a:scheme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113F59F-E242-F098-9399-31D466115C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68090" y="2172708"/>
            <a:ext cx="10147659" cy="3640303"/>
          </a:xfrm>
        </p:spPr>
        <p:txBody>
          <a:bodyPr anchor="t">
            <a:normAutofit/>
          </a:bodyPr>
          <a:lstStyle/>
          <a:p>
            <a:r>
              <a:rPr lang="sk-SK" sz="8000" dirty="0">
                <a:solidFill>
                  <a:srgbClr val="FFFFFF"/>
                </a:solidFill>
              </a:rPr>
              <a:t>Ďakujem za pozornosť</a:t>
            </a:r>
          </a:p>
        </p:txBody>
      </p:sp>
      <p:sp>
        <p:nvSpPr>
          <p:cNvPr id="3" name="Podnadpis 2">
            <a:extLst>
              <a:ext uri="{FF2B5EF4-FFF2-40B4-BE49-F238E27FC236}">
                <a16:creationId xmlns:a16="http://schemas.microsoft.com/office/drawing/2014/main" id="{2569B426-63F2-4D58-C0E6-CBD75F9D882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68090" y="5253050"/>
            <a:ext cx="3888419" cy="969264"/>
          </a:xfrm>
        </p:spPr>
        <p:txBody>
          <a:bodyPr anchor="t">
            <a:normAutofit/>
          </a:bodyPr>
          <a:lstStyle/>
          <a:p>
            <a:endParaRPr lang="sk-SK" sz="2000" dirty="0">
              <a:solidFill>
                <a:srgbClr val="FFFFFF"/>
              </a:solidFill>
            </a:endParaRP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3866850C-B75B-3E3F-AC6E-C7BFC5A1B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40329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735081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8"/>
                                    </p:cond>
                                  </p:end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1B12F2B0132DBD4EB8B6F86465EC0236" ma:contentTypeVersion="6" ma:contentTypeDescription="Umožňuje vytvoriť nový dokument." ma:contentTypeScope="" ma:versionID="d5a5e0b49b178d61f9ecd41930540663">
  <xsd:schema xmlns:xsd="http://www.w3.org/2001/XMLSchema" xmlns:xs="http://www.w3.org/2001/XMLSchema" xmlns:p="http://schemas.microsoft.com/office/2006/metadata/properties" xmlns:ns3="800fcd6c-1b80-4ef0-bca0-4dfac907e310" targetNamespace="http://schemas.microsoft.com/office/2006/metadata/properties" ma:root="true" ma:fieldsID="cd5e29a00545eaf977b3600ef8c11f13" ns3:_="">
    <xsd:import namespace="800fcd6c-1b80-4ef0-bca0-4dfac907e310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AutoTags" minOccurs="0"/>
                <xsd:element ref="ns3:MediaServiceGenerationTime" minOccurs="0"/>
                <xsd:element ref="ns3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00fcd6c-1b80-4ef0-bca0-4dfac907e31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73D0BA0-5522-438B-8ECA-C13BF2058805}">
  <ds:schemaRefs>
    <ds:schemaRef ds:uri="800fcd6c-1b80-4ef0-bca0-4dfac907e310"/>
    <ds:schemaRef ds:uri="http://www.w3.org/XML/1998/namespace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dcmitype/"/>
    <ds:schemaRef ds:uri="http://purl.org/dc/elements/1.1/"/>
    <ds:schemaRef ds:uri="http://purl.org/dc/terms/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DCEDBA1B-6753-4522-B79F-AE422852F60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00fcd6c-1b80-4ef0-bca0-4dfac907e31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8DB316FC-9B84-4E00-AC3C-F9BC3EC7A868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670</TotalTime>
  <Words>153</Words>
  <Application>Microsoft Office PowerPoint</Application>
  <PresentationFormat>Širokouhlá</PresentationFormat>
  <Paragraphs>36</Paragraphs>
  <Slides>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3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1" baseType="lpstr">
      <vt:lpstr>Arial</vt:lpstr>
      <vt:lpstr>Grandview Display</vt:lpstr>
      <vt:lpstr>Neue Haas Grotesk Text Pro</vt:lpstr>
      <vt:lpstr>DashVTI</vt:lpstr>
      <vt:lpstr>Využitie umelej inteligencie pri vývoji softvéru</vt:lpstr>
      <vt:lpstr>Kontext problému</vt:lpstr>
      <vt:lpstr>Prístupy k zlepšeniu generovania kódu</vt:lpstr>
      <vt:lpstr>Cieľ práce</vt:lpstr>
      <vt:lpstr>Aktuálny stav</vt:lpstr>
      <vt:lpstr>Plánované doplnenie</vt:lpstr>
      <vt:lpstr>Ďakujem za pozornosť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Sokol Samuel</dc:creator>
  <cp:lastModifiedBy>Sokol Samuel</cp:lastModifiedBy>
  <cp:revision>8</cp:revision>
  <dcterms:created xsi:type="dcterms:W3CDTF">2026-03-02T14:19:42Z</dcterms:created>
  <dcterms:modified xsi:type="dcterms:W3CDTF">2026-03-17T09:29:52Z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0x0101001B12F2B0132DBD4EB8B6F86465EC0236</vt:lpwstr>
  </property>
</Properties>
</file>