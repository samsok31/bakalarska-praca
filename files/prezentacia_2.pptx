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5"/>
  </p:notesMasterIdLst>
  <p:sldIdLst>
    <p:sldId id="256" r:id="rId5"/>
    <p:sldId id="257" r:id="rId6"/>
    <p:sldId id="270" r:id="rId7"/>
    <p:sldId id="264" r:id="rId8"/>
    <p:sldId id="265" r:id="rId9"/>
    <p:sldId id="266" r:id="rId10"/>
    <p:sldId id="267" r:id="rId11"/>
    <p:sldId id="268" r:id="rId12"/>
    <p:sldId id="269" r:id="rId13"/>
    <p:sldId id="262" r:id="rId14"/>
  </p:sldIdLst>
  <p:sldSz cx="12192000" cy="6858000"/>
  <p:notesSz cx="6858000" cy="9144000"/>
  <p:defaultTextStyle>
    <a:defPPr>
      <a:defRPr lang="sk-S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732" autoAdjust="0"/>
    <p:restoredTop sz="94660"/>
  </p:normalViewPr>
  <p:slideViewPr>
    <p:cSldViewPr snapToGrid="0">
      <p:cViewPr varScale="1">
        <p:scale>
          <a:sx n="67" d="100"/>
          <a:sy n="67" d="100"/>
        </p:scale>
        <p:origin x="771" y="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hlavičk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k-SK"/>
          </a:p>
        </p:txBody>
      </p:sp>
      <p:sp>
        <p:nvSpPr>
          <p:cNvPr id="3" name="Zástupný objekt pre dá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5E28E9-82F7-4867-AAC8-D7622F9F9C71}" type="datetimeFigureOut">
              <a:rPr lang="sk-SK" smtClean="0"/>
              <a:t>13. 4. 2026</a:t>
            </a:fld>
            <a:endParaRPr lang="sk-SK"/>
          </a:p>
        </p:txBody>
      </p:sp>
      <p:sp>
        <p:nvSpPr>
          <p:cNvPr id="4" name="Zástupný objekt pre obrázok snímky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k-SK"/>
          </a:p>
        </p:txBody>
      </p:sp>
      <p:sp>
        <p:nvSpPr>
          <p:cNvPr id="5" name="Zástupný objekt pre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6" name="Zástupný objekt pre pät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k-SK"/>
          </a:p>
        </p:txBody>
      </p:sp>
      <p:sp>
        <p:nvSpPr>
          <p:cNvPr id="7" name="Zástupný objekt pre číslo snímky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D0DC15-8019-4199-A0E5-533008166C2B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7664534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 dirty="0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D0DC15-8019-4199-A0E5-533008166C2B}" type="slidenum">
              <a:rPr lang="sk-SK" smtClean="0"/>
              <a:t>8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0192269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56283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62635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43249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83293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70964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39817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8267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23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36943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04941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70052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759126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randview Display"/>
              <a:ea typeface="+mn-ea"/>
              <a:cs typeface="+mn-cs"/>
            </a:endParaRPr>
          </a:p>
        </p:txBody>
      </p:sp>
      <p:pic>
        <p:nvPicPr>
          <p:cNvPr id="4" name="Picture 3" descr="Obrázok, na ktorom je snímka obrazovky, pestrofarebnosť, umenie, vzor&#10;&#10;Obsah vygenerovaný pomocou AI môže byť nesprávny.">
            <a:extLst>
              <a:ext uri="{FF2B5EF4-FFF2-40B4-BE49-F238E27FC236}">
                <a16:creationId xmlns:a16="http://schemas.microsoft.com/office/drawing/2014/main" id="{39FF2CBF-9B33-605F-1DA4-83A9FCC3AE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 t="31506" b="12244"/>
          <a:stretch>
            <a:fillRect/>
          </a:stretch>
        </p:blipFill>
        <p:spPr>
          <a:xfrm>
            <a:off x="1" y="-2"/>
            <a:ext cx="12191999" cy="6857999"/>
          </a:xfrm>
          <a:prstGeom prst="rect">
            <a:avLst/>
          </a:prstGeom>
          <a:effectLst>
            <a:glow>
              <a:schemeClr val="accent1">
                <a:alpha val="40000"/>
              </a:schemeClr>
            </a:glow>
          </a:effec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2E284DE-AB43-1296-3166-892F44A3A2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73183" y="173181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0000"/>
                </a:schemeClr>
              </a:gs>
              <a:gs pos="26000">
                <a:schemeClr val="bg1">
                  <a:alpha val="17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6D316987-10E1-8667-A311-5ACF6A5DB7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8090" y="1715389"/>
            <a:ext cx="9932132" cy="3640303"/>
          </a:xfrm>
        </p:spPr>
        <p:txBody>
          <a:bodyPr anchor="t">
            <a:normAutofit/>
          </a:bodyPr>
          <a:lstStyle/>
          <a:p>
            <a:r>
              <a:rPr lang="sk-SK" sz="6000" dirty="0">
                <a:solidFill>
                  <a:srgbClr val="FFFFFF"/>
                </a:solidFill>
              </a:rPr>
              <a:t>Využitie umelej inteligencie pri vývoji softvéru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11D4E783-F86D-C918-7762-C1C0611979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8090" y="5253049"/>
            <a:ext cx="6568504" cy="1104887"/>
          </a:xfrm>
        </p:spPr>
        <p:txBody>
          <a:bodyPr anchor="t">
            <a:noAutofit/>
          </a:bodyPr>
          <a:lstStyle/>
          <a:p>
            <a:r>
              <a:rPr lang="sk-SK" sz="2000" dirty="0">
                <a:solidFill>
                  <a:srgbClr val="FFFFFF"/>
                </a:solidFill>
              </a:rPr>
              <a:t>Samuel Sokol</a:t>
            </a:r>
          </a:p>
          <a:p>
            <a:r>
              <a:rPr lang="sk-SK" sz="2000" dirty="0">
                <a:solidFill>
                  <a:srgbClr val="FFFFFF"/>
                </a:solidFill>
              </a:rPr>
              <a:t>Školiteľ: </a:t>
            </a:r>
            <a:r>
              <a:rPr lang="sv-SE" sz="2000" dirty="0"/>
              <a:t>doc. Ing. Ivan Polášek, PhD</a:t>
            </a:r>
            <a:r>
              <a:rPr lang="sv-SE" sz="2000" b="0" dirty="0"/>
              <a:t>.</a:t>
            </a:r>
            <a:endParaRPr lang="sk-SK" sz="2000" dirty="0">
              <a:solidFill>
                <a:srgbClr val="FFFFFF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7CC2FE6-3AD0-4131-B4BC-1F4D65E25E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0329" y="4861206"/>
            <a:ext cx="978862" cy="0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03652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4A7E0EE-A7DC-51CA-F7F0-1E599DD36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652" y="1094822"/>
            <a:ext cx="11134103" cy="1097280"/>
          </a:xfrm>
        </p:spPr>
        <p:txBody>
          <a:bodyPr>
            <a:normAutofit/>
          </a:bodyPr>
          <a:lstStyle/>
          <a:p>
            <a:r>
              <a:rPr lang="sk-SK" sz="5000" dirty="0">
                <a:solidFill>
                  <a:schemeClr val="bg1"/>
                </a:solidFill>
              </a:rPr>
              <a:t>Architektúra a jej princípy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60AB0F65-A22A-B1B7-35BD-5F3D7D937F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5094" y="2027362"/>
            <a:ext cx="4416906" cy="5079206"/>
          </a:xfrm>
        </p:spPr>
        <p:txBody>
          <a:bodyPr>
            <a:normAutofit/>
          </a:bodyPr>
          <a:lstStyle/>
          <a:p>
            <a:r>
              <a:rPr lang="sk-SK" sz="2500" b="1" dirty="0">
                <a:solidFill>
                  <a:schemeClr val="bg1"/>
                </a:solidFill>
              </a:rPr>
              <a:t>Formálna štruktúra zadania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Rozdelenie problému na menšie časti (fragmentácia)</a:t>
            </a:r>
          </a:p>
          <a:p>
            <a:r>
              <a:rPr lang="en-US" sz="2500" b="1" dirty="0" err="1">
                <a:solidFill>
                  <a:schemeClr val="bg1"/>
                </a:solidFill>
              </a:rPr>
              <a:t>Iterat</a:t>
            </a:r>
            <a:r>
              <a:rPr lang="sk-SK" sz="2500" b="1" dirty="0" err="1">
                <a:solidFill>
                  <a:schemeClr val="bg1"/>
                </a:solidFill>
              </a:rPr>
              <a:t>ívne</a:t>
            </a:r>
            <a:r>
              <a:rPr lang="sk-SK" sz="2500" b="1" dirty="0">
                <a:solidFill>
                  <a:schemeClr val="bg1"/>
                </a:solidFill>
              </a:rPr>
              <a:t> zlepšovania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Validácia v každom kroku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Využitie znalostnej bázy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Zapojenie používateľa </a:t>
            </a:r>
            <a:r>
              <a:rPr lang="en-US" sz="2500" b="1" dirty="0">
                <a:solidFill>
                  <a:schemeClr val="bg1"/>
                </a:solidFill>
              </a:rPr>
              <a:t>“</a:t>
            </a:r>
            <a:r>
              <a:rPr lang="sk-SK" sz="2500" b="1" dirty="0" err="1">
                <a:solidFill>
                  <a:schemeClr val="bg1"/>
                </a:solidFill>
              </a:rPr>
              <a:t>Human</a:t>
            </a:r>
            <a:r>
              <a:rPr lang="sk-SK" sz="2500" b="1" dirty="0">
                <a:solidFill>
                  <a:schemeClr val="bg1"/>
                </a:solidFill>
              </a:rPr>
              <a:t> in </a:t>
            </a:r>
            <a:r>
              <a:rPr lang="sk-SK" sz="2500" b="1" dirty="0" err="1">
                <a:solidFill>
                  <a:schemeClr val="bg1"/>
                </a:solidFill>
              </a:rPr>
              <a:t>the</a:t>
            </a:r>
            <a:r>
              <a:rPr lang="sk-SK" sz="2500" b="1" dirty="0">
                <a:solidFill>
                  <a:schemeClr val="bg1"/>
                </a:solidFill>
              </a:rPr>
              <a:t> </a:t>
            </a:r>
            <a:r>
              <a:rPr lang="sk-SK" sz="2500" b="1" dirty="0" err="1">
                <a:solidFill>
                  <a:schemeClr val="bg1"/>
                </a:solidFill>
              </a:rPr>
              <a:t>loop</a:t>
            </a:r>
            <a:r>
              <a:rPr lang="en-US" sz="2500" b="1" dirty="0">
                <a:solidFill>
                  <a:schemeClr val="bg1"/>
                </a:solidFill>
              </a:rPr>
              <a:t>”</a:t>
            </a:r>
            <a:endParaRPr lang="sk-SK" sz="2500" b="1" dirty="0">
              <a:solidFill>
                <a:schemeClr val="bg1"/>
              </a:solidFill>
            </a:endParaRPr>
          </a:p>
          <a:p>
            <a:endParaRPr lang="sk-SK" sz="2500" dirty="0">
              <a:solidFill>
                <a:schemeClr val="bg1"/>
              </a:solidFill>
            </a:endParaRPr>
          </a:p>
        </p:txBody>
      </p:sp>
      <p:pic>
        <p:nvPicPr>
          <p:cNvPr id="5" name="Obrázok 4">
            <a:extLst>
              <a:ext uri="{FF2B5EF4-FFF2-40B4-BE49-F238E27FC236}">
                <a16:creationId xmlns:a16="http://schemas.microsoft.com/office/drawing/2014/main" id="{41578967-69FC-2F3F-6D0E-87D471F400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654" y="2027362"/>
            <a:ext cx="7143440" cy="4359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9691549"/>
      </p:ext>
    </p:extLst>
  </p:cSld>
  <p:clrMapOvr>
    <a:masterClrMapping/>
  </p:clrMapOvr>
  <p:transition spd="med">
    <p:pull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79994A-3121-3185-6848-CB3E911E2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7E81132-F20A-B1FC-CFA9-5796B57C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653" y="1094822"/>
            <a:ext cx="9991290" cy="1097280"/>
          </a:xfrm>
        </p:spPr>
        <p:txBody>
          <a:bodyPr>
            <a:normAutofit/>
          </a:bodyPr>
          <a:lstStyle/>
          <a:p>
            <a:r>
              <a:rPr lang="en-US" sz="5000" dirty="0" err="1">
                <a:solidFill>
                  <a:schemeClr val="bg1"/>
                </a:solidFill>
              </a:rPr>
              <a:t>Generovani</a:t>
            </a:r>
            <a:r>
              <a:rPr lang="sk-SK" sz="5000" dirty="0">
                <a:solidFill>
                  <a:schemeClr val="bg1"/>
                </a:solidFill>
              </a:rPr>
              <a:t>e</a:t>
            </a:r>
            <a:r>
              <a:rPr lang="en-US" sz="5000" dirty="0">
                <a:solidFill>
                  <a:schemeClr val="bg1"/>
                </a:solidFill>
              </a:rPr>
              <a:t> pr</a:t>
            </a:r>
            <a:r>
              <a:rPr lang="sk-SK" sz="5000" dirty="0" err="1">
                <a:solidFill>
                  <a:schemeClr val="bg1"/>
                </a:solidFill>
              </a:rPr>
              <a:t>ípadu</a:t>
            </a:r>
            <a:r>
              <a:rPr lang="sk-SK" sz="5000" dirty="0">
                <a:solidFill>
                  <a:schemeClr val="bg1"/>
                </a:solidFill>
              </a:rPr>
              <a:t> použitia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45C4048-7C81-35C2-B04F-1F129717D4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654" y="2192102"/>
            <a:ext cx="6276352" cy="4655914"/>
          </a:xfrm>
        </p:spPr>
        <p:txBody>
          <a:bodyPr>
            <a:normAutofit/>
          </a:bodyPr>
          <a:lstStyle/>
          <a:p>
            <a:r>
              <a:rPr lang="sk-SK" sz="2500" b="1" dirty="0">
                <a:solidFill>
                  <a:schemeClr val="bg1"/>
                </a:solidFill>
              </a:rPr>
              <a:t>Transformácia zadania na</a:t>
            </a:r>
            <a:r>
              <a:rPr lang="en-US" sz="2500" b="1" dirty="0">
                <a:solidFill>
                  <a:schemeClr val="bg1"/>
                </a:solidFill>
              </a:rPr>
              <a:t> form</a:t>
            </a:r>
            <a:r>
              <a:rPr lang="sk-SK" sz="2500" b="1" dirty="0" err="1">
                <a:solidFill>
                  <a:schemeClr val="bg1"/>
                </a:solidFill>
              </a:rPr>
              <a:t>álny</a:t>
            </a:r>
            <a:r>
              <a:rPr lang="sk-SK" sz="2500" b="1" dirty="0">
                <a:solidFill>
                  <a:schemeClr val="bg1"/>
                </a:solidFill>
              </a:rPr>
              <a:t> prípad použitia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Extrakcia: </a:t>
            </a:r>
          </a:p>
          <a:p>
            <a:pPr lvl="1"/>
            <a:r>
              <a:rPr lang="sk-SK" sz="2300" b="1" dirty="0">
                <a:solidFill>
                  <a:schemeClr val="bg1"/>
                </a:solidFill>
              </a:rPr>
              <a:t>Funkcionality, scenárov a požiadaviek</a:t>
            </a:r>
          </a:p>
          <a:p>
            <a:pPr lvl="1"/>
            <a:r>
              <a:rPr lang="sk-SK" sz="2300" b="1" dirty="0" err="1">
                <a:solidFill>
                  <a:schemeClr val="bg1"/>
                </a:solidFill>
              </a:rPr>
              <a:t>Preconditions</a:t>
            </a:r>
            <a:r>
              <a:rPr lang="en-US" sz="2300" b="1" dirty="0">
                <a:solidFill>
                  <a:schemeClr val="bg1"/>
                </a:solidFill>
              </a:rPr>
              <a:t>/</a:t>
            </a:r>
            <a:r>
              <a:rPr lang="sk-SK" sz="2300" b="1" dirty="0">
                <a:solidFill>
                  <a:schemeClr val="bg1"/>
                </a:solidFill>
              </a:rPr>
              <a:t>P</a:t>
            </a:r>
            <a:r>
              <a:rPr lang="en-US" sz="2300" b="1" dirty="0" err="1">
                <a:solidFill>
                  <a:schemeClr val="bg1"/>
                </a:solidFill>
              </a:rPr>
              <a:t>ostconditions</a:t>
            </a:r>
            <a:endParaRPr lang="sk-SK" sz="2300" b="1" dirty="0">
              <a:solidFill>
                <a:schemeClr val="bg1"/>
              </a:solidFill>
            </a:endParaRPr>
          </a:p>
          <a:p>
            <a:r>
              <a:rPr lang="en-US" sz="2500" b="1" dirty="0" err="1">
                <a:solidFill>
                  <a:schemeClr val="bg1"/>
                </a:solidFill>
              </a:rPr>
              <a:t>Zdroj</a:t>
            </a:r>
            <a:r>
              <a:rPr lang="en-US" sz="2500" b="1" dirty="0">
                <a:solidFill>
                  <a:schemeClr val="bg1"/>
                </a:solidFill>
              </a:rPr>
              <a:t> </a:t>
            </a:r>
            <a:r>
              <a:rPr lang="en-US" sz="2500" b="1" dirty="0" err="1">
                <a:solidFill>
                  <a:schemeClr val="bg1"/>
                </a:solidFill>
              </a:rPr>
              <a:t>pravdy</a:t>
            </a:r>
            <a:r>
              <a:rPr lang="sk-SK" sz="2500" b="1" dirty="0">
                <a:solidFill>
                  <a:schemeClr val="bg1"/>
                </a:solidFill>
              </a:rPr>
              <a:t> v systéme</a:t>
            </a:r>
          </a:p>
          <a:p>
            <a:r>
              <a:rPr lang="en-US" sz="2500" b="1" dirty="0">
                <a:solidFill>
                  <a:schemeClr val="bg1"/>
                </a:solidFill>
              </a:rPr>
              <a:t>Agent rev</a:t>
            </a:r>
            <a:r>
              <a:rPr lang="sk-SK" sz="2500" b="1" dirty="0" err="1">
                <a:solidFill>
                  <a:schemeClr val="bg1"/>
                </a:solidFill>
              </a:rPr>
              <a:t>ízie</a:t>
            </a:r>
            <a:r>
              <a:rPr lang="sk-SK" sz="2500" b="1" dirty="0">
                <a:solidFill>
                  <a:schemeClr val="bg1"/>
                </a:solidFill>
              </a:rPr>
              <a:t> - iteratívne zlepšovanie a kontrola správnosti</a:t>
            </a:r>
          </a:p>
        </p:txBody>
      </p:sp>
      <p:pic>
        <p:nvPicPr>
          <p:cNvPr id="6" name="Obrázok 5">
            <a:extLst>
              <a:ext uri="{FF2B5EF4-FFF2-40B4-BE49-F238E27FC236}">
                <a16:creationId xmlns:a16="http://schemas.microsoft.com/office/drawing/2014/main" id="{E4E4BEF4-1174-0364-FEB7-044F1F9CF4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54024" y="2431648"/>
            <a:ext cx="5208104" cy="3178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216532"/>
      </p:ext>
    </p:extLst>
  </p:cSld>
  <p:clrMapOvr>
    <a:masterClrMapping/>
  </p:clrMapOvr>
  <p:transition spd="med">
    <p:pull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1CC789-800A-DBEE-575B-56C211B7A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AAEC44A-3B30-C21B-9B86-618AF48CB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653" y="1094822"/>
            <a:ext cx="9991290" cy="1097280"/>
          </a:xfrm>
        </p:spPr>
        <p:txBody>
          <a:bodyPr>
            <a:normAutofit/>
          </a:bodyPr>
          <a:lstStyle/>
          <a:p>
            <a:r>
              <a:rPr lang="sk-SK" sz="5000" dirty="0">
                <a:solidFill>
                  <a:schemeClr val="bg1"/>
                </a:solidFill>
              </a:rPr>
              <a:t>Návrh architektúry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2A8FD7DF-01F6-3ACA-F97F-62CC6EDD8E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654" y="2192102"/>
            <a:ext cx="6222370" cy="4655914"/>
          </a:xfrm>
        </p:spPr>
        <p:txBody>
          <a:bodyPr>
            <a:normAutofit/>
          </a:bodyPr>
          <a:lstStyle/>
          <a:p>
            <a:r>
              <a:rPr lang="sk-SK" sz="2500" b="1" dirty="0">
                <a:solidFill>
                  <a:schemeClr val="bg1"/>
                </a:solidFill>
              </a:rPr>
              <a:t>Triedy</a:t>
            </a:r>
          </a:p>
          <a:p>
            <a:pPr lvl="1"/>
            <a:r>
              <a:rPr lang="sk-SK" sz="2300" b="1" dirty="0">
                <a:solidFill>
                  <a:schemeClr val="bg1"/>
                </a:solidFill>
              </a:rPr>
              <a:t>každá má jednu zodpovednosť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Metódy</a:t>
            </a:r>
          </a:p>
          <a:p>
            <a:pPr lvl="1"/>
            <a:r>
              <a:rPr lang="sk-SK" sz="2300" b="1" dirty="0">
                <a:solidFill>
                  <a:schemeClr val="bg1"/>
                </a:solidFill>
              </a:rPr>
              <a:t>reprezentujú konkrétne akcie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Atribúty</a:t>
            </a:r>
          </a:p>
          <a:p>
            <a:pPr lvl="1"/>
            <a:r>
              <a:rPr lang="sk-SK" sz="2300" b="1" dirty="0">
                <a:solidFill>
                  <a:schemeClr val="bg1"/>
                </a:solidFill>
              </a:rPr>
              <a:t>reprezentujú stav systému</a:t>
            </a:r>
          </a:p>
          <a:p>
            <a:r>
              <a:rPr lang="en-US" sz="2500" b="1" dirty="0">
                <a:solidFill>
                  <a:schemeClr val="bg1"/>
                </a:solidFill>
              </a:rPr>
              <a:t>Agent rev</a:t>
            </a:r>
            <a:r>
              <a:rPr lang="sk-SK" sz="2500" b="1" dirty="0" err="1">
                <a:solidFill>
                  <a:schemeClr val="bg1"/>
                </a:solidFill>
              </a:rPr>
              <a:t>ízie</a:t>
            </a:r>
            <a:endParaRPr lang="sk-SK" sz="2500" b="1" dirty="0">
              <a:solidFill>
                <a:schemeClr val="bg1"/>
              </a:solidFill>
            </a:endParaRPr>
          </a:p>
          <a:p>
            <a:pPr lvl="1"/>
            <a:r>
              <a:rPr lang="sk-SK" sz="2300" b="1" dirty="0">
                <a:solidFill>
                  <a:schemeClr val="bg1"/>
                </a:solidFill>
              </a:rPr>
              <a:t>kontrola pokrytia</a:t>
            </a:r>
          </a:p>
          <a:p>
            <a:endParaRPr lang="sk-SK" sz="2500" dirty="0">
              <a:solidFill>
                <a:schemeClr val="bg1"/>
              </a:solidFill>
            </a:endParaRPr>
          </a:p>
        </p:txBody>
      </p:sp>
      <p:pic>
        <p:nvPicPr>
          <p:cNvPr id="6" name="Obrázok 5">
            <a:extLst>
              <a:ext uri="{FF2B5EF4-FFF2-40B4-BE49-F238E27FC236}">
                <a16:creationId xmlns:a16="http://schemas.microsoft.com/office/drawing/2014/main" id="{7CE9B355-F6B0-5E31-8C8F-ED6F9FE43D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54024" y="2431648"/>
            <a:ext cx="5208105" cy="3178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066779"/>
      </p:ext>
    </p:extLst>
  </p:cSld>
  <p:clrMapOvr>
    <a:masterClrMapping/>
  </p:clrMapOvr>
  <p:transition spd="med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089B7-077C-6474-6C3B-85AF121A3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D0F2A01-DCF2-174F-3DCB-F0F22F54B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653" y="1094822"/>
            <a:ext cx="9991290" cy="1097280"/>
          </a:xfrm>
        </p:spPr>
        <p:txBody>
          <a:bodyPr>
            <a:normAutofit/>
          </a:bodyPr>
          <a:lstStyle/>
          <a:p>
            <a:r>
              <a:rPr lang="sk-SK" sz="5000" dirty="0">
                <a:solidFill>
                  <a:schemeClr val="bg1"/>
                </a:solidFill>
              </a:rPr>
              <a:t>Znalostná báza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6ABF9D35-A7E5-7D8F-8341-2C3A46911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0" y="2056930"/>
            <a:ext cx="6386514" cy="4655914"/>
          </a:xfrm>
        </p:spPr>
        <p:txBody>
          <a:bodyPr>
            <a:normAutofit/>
          </a:bodyPr>
          <a:lstStyle/>
          <a:p>
            <a:r>
              <a:rPr lang="sk-SK" sz="2500" b="1" dirty="0" err="1">
                <a:solidFill>
                  <a:schemeClr val="bg1"/>
                </a:solidFill>
              </a:rPr>
              <a:t>GraphRAG</a:t>
            </a:r>
            <a:r>
              <a:rPr lang="sk-SK" sz="2500" b="1" dirty="0">
                <a:solidFill>
                  <a:schemeClr val="bg1"/>
                </a:solidFill>
              </a:rPr>
              <a:t> = znalostná báza kódu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Obsah:</a:t>
            </a:r>
          </a:p>
          <a:p>
            <a:pPr lvl="1"/>
            <a:r>
              <a:rPr lang="sk-SK" sz="2300" b="1" dirty="0">
                <a:solidFill>
                  <a:schemeClr val="bg1"/>
                </a:solidFill>
              </a:rPr>
              <a:t>triedy, funkcie, atribúty, vzťahy</a:t>
            </a:r>
            <a:endParaRPr lang="sk-SK" sz="2500" b="1" dirty="0">
              <a:solidFill>
                <a:schemeClr val="bg1"/>
              </a:solidFill>
            </a:endParaRPr>
          </a:p>
          <a:p>
            <a:r>
              <a:rPr lang="sk-SK" sz="2500" b="1" dirty="0">
                <a:solidFill>
                  <a:schemeClr val="bg1"/>
                </a:solidFill>
              </a:rPr>
              <a:t>Vyhľadávanie:</a:t>
            </a:r>
          </a:p>
          <a:p>
            <a:pPr lvl="1"/>
            <a:r>
              <a:rPr lang="sk-SK" sz="2300" b="1" dirty="0" err="1">
                <a:solidFill>
                  <a:schemeClr val="bg1"/>
                </a:solidFill>
              </a:rPr>
              <a:t>embeddingy</a:t>
            </a:r>
            <a:r>
              <a:rPr lang="sk-SK" sz="2300" b="1" dirty="0">
                <a:solidFill>
                  <a:schemeClr val="bg1"/>
                </a:solidFill>
              </a:rPr>
              <a:t> + kosínusová podobnosť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Automatické dopĺňanie:</a:t>
            </a:r>
          </a:p>
          <a:p>
            <a:pPr lvl="1"/>
            <a:r>
              <a:rPr lang="sk-SK" sz="2300" b="1" dirty="0" err="1">
                <a:solidFill>
                  <a:schemeClr val="bg1"/>
                </a:solidFill>
              </a:rPr>
              <a:t>GitHub</a:t>
            </a:r>
            <a:r>
              <a:rPr lang="sk-SK" sz="2300" b="1" dirty="0">
                <a:solidFill>
                  <a:schemeClr val="bg1"/>
                </a:solidFill>
              </a:rPr>
              <a:t> repozitáre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Cieľ – aktuálne a znovu použiteľné riešenia</a:t>
            </a:r>
          </a:p>
        </p:txBody>
      </p:sp>
      <p:pic>
        <p:nvPicPr>
          <p:cNvPr id="6" name="Obrázok 5">
            <a:extLst>
              <a:ext uri="{FF2B5EF4-FFF2-40B4-BE49-F238E27FC236}">
                <a16:creationId xmlns:a16="http://schemas.microsoft.com/office/drawing/2014/main" id="{500143A3-0708-37E4-95DC-AFC3FDBB44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54024" y="2431648"/>
            <a:ext cx="5208104" cy="3178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9992999"/>
      </p:ext>
    </p:extLst>
  </p:cSld>
  <p:clrMapOvr>
    <a:masterClrMapping/>
  </p:clrMapOvr>
  <p:transition spd="med">
    <p:pull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CD7B9-EF51-041D-7AFD-D0B4BF010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6517086-B185-7CB7-F51B-9E90CDFB4F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653" y="1094822"/>
            <a:ext cx="9991290" cy="1097280"/>
          </a:xfrm>
        </p:spPr>
        <p:txBody>
          <a:bodyPr>
            <a:normAutofit/>
          </a:bodyPr>
          <a:lstStyle/>
          <a:p>
            <a:r>
              <a:rPr lang="sk-SK" sz="5000" dirty="0">
                <a:solidFill>
                  <a:schemeClr val="bg1"/>
                </a:solidFill>
              </a:rPr>
              <a:t>Generovanie metód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2529A5CE-8467-2BE8-E6D3-A696DD4C50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653" y="2110179"/>
            <a:ext cx="6222370" cy="4655914"/>
          </a:xfrm>
        </p:spPr>
        <p:txBody>
          <a:bodyPr>
            <a:normAutofit/>
          </a:bodyPr>
          <a:lstStyle/>
          <a:p>
            <a:r>
              <a:rPr lang="sk-SK" sz="2500" b="1" dirty="0">
                <a:solidFill>
                  <a:schemeClr val="bg1"/>
                </a:solidFill>
              </a:rPr>
              <a:t>Generovanie metódy po metóde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Kontext:</a:t>
            </a:r>
          </a:p>
          <a:p>
            <a:pPr lvl="1"/>
            <a:r>
              <a:rPr lang="sk-SK" sz="2300" b="1" dirty="0">
                <a:solidFill>
                  <a:schemeClr val="bg1"/>
                </a:solidFill>
              </a:rPr>
              <a:t>Špecifikácia</a:t>
            </a:r>
          </a:p>
          <a:p>
            <a:pPr lvl="1"/>
            <a:r>
              <a:rPr lang="sk-SK" sz="2300" b="1" dirty="0">
                <a:solidFill>
                  <a:schemeClr val="bg1"/>
                </a:solidFill>
              </a:rPr>
              <a:t>Atribúty a metódy triedy</a:t>
            </a:r>
          </a:p>
          <a:p>
            <a:pPr lvl="1"/>
            <a:r>
              <a:rPr lang="sk-SK" sz="2300" b="1" dirty="0" err="1">
                <a:solidFill>
                  <a:schemeClr val="bg1"/>
                </a:solidFill>
              </a:rPr>
              <a:t>GraphRAG</a:t>
            </a:r>
            <a:r>
              <a:rPr lang="sk-SK" sz="2300" b="1" dirty="0">
                <a:solidFill>
                  <a:schemeClr val="bg1"/>
                </a:solidFill>
              </a:rPr>
              <a:t> referencie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Syntaktická a sémantická kontrola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Využitie silnej stránky LLM</a:t>
            </a:r>
          </a:p>
          <a:p>
            <a:endParaRPr lang="sk-SK" sz="2500" b="1" dirty="0">
              <a:solidFill>
                <a:schemeClr val="bg1"/>
              </a:solidFill>
            </a:endParaRPr>
          </a:p>
        </p:txBody>
      </p:sp>
      <p:pic>
        <p:nvPicPr>
          <p:cNvPr id="6" name="Obrázok 5">
            <a:extLst>
              <a:ext uri="{FF2B5EF4-FFF2-40B4-BE49-F238E27FC236}">
                <a16:creationId xmlns:a16="http://schemas.microsoft.com/office/drawing/2014/main" id="{B376F665-2810-A70A-DC59-EA15B208C2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54024" y="2431648"/>
            <a:ext cx="5208104" cy="3178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730348"/>
      </p:ext>
    </p:extLst>
  </p:cSld>
  <p:clrMapOvr>
    <a:masterClrMapping/>
  </p:clrMapOvr>
  <p:transition spd="med">
    <p:pull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52D29-B37C-4EB3-C067-7B570A048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9C51EEE-7B90-DCE6-BECC-52C47A6763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653" y="1094822"/>
            <a:ext cx="9991290" cy="1097280"/>
          </a:xfrm>
        </p:spPr>
        <p:txBody>
          <a:bodyPr>
            <a:normAutofit/>
          </a:bodyPr>
          <a:lstStyle/>
          <a:p>
            <a:r>
              <a:rPr lang="sk-SK" sz="5000" dirty="0">
                <a:solidFill>
                  <a:schemeClr val="bg1"/>
                </a:solidFill>
              </a:rPr>
              <a:t>Integrácia programu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93E79816-CD80-BCE6-3388-A5B16A531D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655" y="2118128"/>
            <a:ext cx="6222370" cy="4655914"/>
          </a:xfrm>
        </p:spPr>
        <p:txBody>
          <a:bodyPr>
            <a:normAutofit/>
          </a:bodyPr>
          <a:lstStyle/>
          <a:p>
            <a:r>
              <a:rPr lang="sk-SK" sz="2500" b="1" dirty="0">
                <a:solidFill>
                  <a:schemeClr val="bg1"/>
                </a:solidFill>
              </a:rPr>
              <a:t>Spájanie metód do programu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Kontext:</a:t>
            </a:r>
          </a:p>
          <a:p>
            <a:pPr lvl="1"/>
            <a:r>
              <a:rPr lang="sk-SK" sz="2300" b="1" dirty="0">
                <a:solidFill>
                  <a:schemeClr val="bg1"/>
                </a:solidFill>
              </a:rPr>
              <a:t>Prípad použitia</a:t>
            </a:r>
          </a:p>
          <a:p>
            <a:pPr lvl="1"/>
            <a:r>
              <a:rPr lang="sk-SK" sz="2300" b="1" dirty="0">
                <a:solidFill>
                  <a:schemeClr val="bg1"/>
                </a:solidFill>
              </a:rPr>
              <a:t>Architektúra</a:t>
            </a:r>
          </a:p>
          <a:p>
            <a:pPr lvl="1"/>
            <a:r>
              <a:rPr lang="sk-SK" sz="2300" b="1" dirty="0">
                <a:solidFill>
                  <a:schemeClr val="bg1"/>
                </a:solidFill>
              </a:rPr>
              <a:t>Opisy tried, metód, atribútov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Syntaktická a sémantická validácia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Testy – </a:t>
            </a:r>
            <a:r>
              <a:rPr lang="sk-SK" sz="2500" b="1" dirty="0" err="1">
                <a:solidFill>
                  <a:schemeClr val="bg1"/>
                </a:solidFill>
              </a:rPr>
              <a:t>unit</a:t>
            </a:r>
            <a:r>
              <a:rPr lang="sk-SK" sz="2500" b="1" dirty="0">
                <a:solidFill>
                  <a:schemeClr val="bg1"/>
                </a:solidFill>
              </a:rPr>
              <a:t> + integračné</a:t>
            </a:r>
          </a:p>
          <a:p>
            <a:endParaRPr lang="sk-SK" sz="2500" b="1" dirty="0">
              <a:solidFill>
                <a:schemeClr val="bg1"/>
              </a:solidFill>
            </a:endParaRPr>
          </a:p>
          <a:p>
            <a:endParaRPr lang="sk-SK" sz="2500" b="1" dirty="0">
              <a:solidFill>
                <a:schemeClr val="bg1"/>
              </a:solidFill>
            </a:endParaRPr>
          </a:p>
        </p:txBody>
      </p:sp>
      <p:pic>
        <p:nvPicPr>
          <p:cNvPr id="6" name="Obrázok 5">
            <a:extLst>
              <a:ext uri="{FF2B5EF4-FFF2-40B4-BE49-F238E27FC236}">
                <a16:creationId xmlns:a16="http://schemas.microsoft.com/office/drawing/2014/main" id="{E5D5B6FC-2082-0575-AD76-CCABBBE1A6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54025" y="2431648"/>
            <a:ext cx="5208102" cy="3178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60453"/>
      </p:ext>
    </p:extLst>
  </p:cSld>
  <p:clrMapOvr>
    <a:masterClrMapping/>
  </p:clrMapOvr>
  <p:transition spd="med">
    <p:pull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BA5A8-4705-52CF-5F18-850CB076D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DC77CED-AF40-4040-5C79-90770A06D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653" y="1094822"/>
            <a:ext cx="9991290" cy="1097280"/>
          </a:xfrm>
        </p:spPr>
        <p:txBody>
          <a:bodyPr>
            <a:normAutofit/>
          </a:bodyPr>
          <a:lstStyle/>
          <a:p>
            <a:r>
              <a:rPr lang="sk-SK" sz="5000" dirty="0">
                <a:solidFill>
                  <a:schemeClr val="bg1"/>
                </a:solidFill>
              </a:rPr>
              <a:t>Feedback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4A032BC7-FE7E-29D6-5C60-BD18EC5841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655" y="2270683"/>
            <a:ext cx="6222370" cy="4655914"/>
          </a:xfrm>
        </p:spPr>
        <p:txBody>
          <a:bodyPr>
            <a:normAutofit/>
          </a:bodyPr>
          <a:lstStyle/>
          <a:p>
            <a:r>
              <a:rPr lang="sk-SK" sz="2500" b="1" dirty="0">
                <a:solidFill>
                  <a:schemeClr val="bg1"/>
                </a:solidFill>
              </a:rPr>
              <a:t>Výstup – kód + diagram aktivít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Pripomienky používateľa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Rozlíšenie </a:t>
            </a:r>
            <a:r>
              <a:rPr lang="sk-SK" sz="2500" b="1" dirty="0" err="1">
                <a:solidFill>
                  <a:schemeClr val="bg1"/>
                </a:solidFill>
              </a:rPr>
              <a:t>bug</a:t>
            </a:r>
            <a:r>
              <a:rPr lang="sk-SK" sz="2500" b="1" dirty="0">
                <a:solidFill>
                  <a:schemeClr val="bg1"/>
                </a:solidFill>
              </a:rPr>
              <a:t> </a:t>
            </a:r>
            <a:r>
              <a:rPr lang="sk-SK" sz="2500" b="1" dirty="0" err="1">
                <a:solidFill>
                  <a:schemeClr val="bg1"/>
                </a:solidFill>
              </a:rPr>
              <a:t>vs</a:t>
            </a:r>
            <a:r>
              <a:rPr lang="sk-SK" sz="2500" b="1" dirty="0">
                <a:solidFill>
                  <a:schemeClr val="bg1"/>
                </a:solidFill>
              </a:rPr>
              <a:t> zmena požiadavky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Regenerácia -</a:t>
            </a:r>
            <a:r>
              <a:rPr lang="en-US" sz="2500" b="1" dirty="0">
                <a:solidFill>
                  <a:schemeClr val="bg1"/>
                </a:solidFill>
              </a:rPr>
              <a:t> pr</a:t>
            </a:r>
            <a:r>
              <a:rPr lang="sk-SK" sz="2500" b="1" dirty="0" err="1">
                <a:solidFill>
                  <a:schemeClr val="bg1"/>
                </a:solidFill>
              </a:rPr>
              <a:t>ípad</a:t>
            </a:r>
            <a:r>
              <a:rPr lang="sk-SK" sz="2500" b="1" dirty="0">
                <a:solidFill>
                  <a:schemeClr val="bg1"/>
                </a:solidFill>
              </a:rPr>
              <a:t> použitia</a:t>
            </a:r>
            <a:r>
              <a:rPr lang="en-US" sz="2500" b="1" dirty="0">
                <a:solidFill>
                  <a:schemeClr val="bg1"/>
                </a:solidFill>
              </a:rPr>
              <a:t>/k</a:t>
            </a:r>
            <a:r>
              <a:rPr lang="sk-SK" sz="2500" b="1" dirty="0">
                <a:solidFill>
                  <a:schemeClr val="bg1"/>
                </a:solidFill>
              </a:rPr>
              <a:t>ód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Selekcia ovplyvnených častí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Vloženie programu do znalostnej bázy</a:t>
            </a:r>
          </a:p>
          <a:p>
            <a:endParaRPr lang="sk-SK" sz="2500" b="1" dirty="0">
              <a:solidFill>
                <a:schemeClr val="bg1"/>
              </a:solidFill>
            </a:endParaRPr>
          </a:p>
          <a:p>
            <a:endParaRPr lang="sk-SK" sz="2500" b="1" dirty="0">
              <a:solidFill>
                <a:schemeClr val="bg1"/>
              </a:solidFill>
            </a:endParaRPr>
          </a:p>
        </p:txBody>
      </p:sp>
      <p:pic>
        <p:nvPicPr>
          <p:cNvPr id="6" name="Obrázok 5">
            <a:extLst>
              <a:ext uri="{FF2B5EF4-FFF2-40B4-BE49-F238E27FC236}">
                <a16:creationId xmlns:a16="http://schemas.microsoft.com/office/drawing/2014/main" id="{E5E3CFE4-6796-B3D0-C098-9596982AF3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54025" y="2431648"/>
            <a:ext cx="5208102" cy="3178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0044088"/>
      </p:ext>
    </p:extLst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77A15-D25B-D13C-A670-AABFD25CD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A7D3828-4883-CA7F-5F4C-9D6E2CB7A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653" y="1094822"/>
            <a:ext cx="9991290" cy="1097280"/>
          </a:xfrm>
        </p:spPr>
        <p:txBody>
          <a:bodyPr>
            <a:normAutofit/>
          </a:bodyPr>
          <a:lstStyle/>
          <a:p>
            <a:r>
              <a:rPr lang="sk-SK" sz="5000" dirty="0">
                <a:solidFill>
                  <a:schemeClr val="bg1"/>
                </a:solidFill>
              </a:rPr>
              <a:t>Ďalší postup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2DFC13D5-2F04-C773-3174-541528133D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653" y="2091061"/>
            <a:ext cx="6222370" cy="4655914"/>
          </a:xfrm>
        </p:spPr>
        <p:txBody>
          <a:bodyPr>
            <a:normAutofit/>
          </a:bodyPr>
          <a:lstStyle/>
          <a:p>
            <a:r>
              <a:rPr lang="sk-SK" sz="2500" b="1" dirty="0">
                <a:solidFill>
                  <a:schemeClr val="bg1"/>
                </a:solidFill>
              </a:rPr>
              <a:t>Vylepšovanie súčasnej verzie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Návrh experimentálnej časti:</a:t>
            </a:r>
          </a:p>
          <a:p>
            <a:pPr lvl="1"/>
            <a:r>
              <a:rPr lang="sk-SK" sz="2300" b="1" dirty="0">
                <a:solidFill>
                  <a:schemeClr val="bg1"/>
                </a:solidFill>
              </a:rPr>
              <a:t>Testovacie zadania</a:t>
            </a:r>
          </a:p>
          <a:p>
            <a:pPr lvl="1"/>
            <a:r>
              <a:rPr lang="sk-SK" sz="2300" b="1" dirty="0">
                <a:solidFill>
                  <a:schemeClr val="bg1"/>
                </a:solidFill>
              </a:rPr>
              <a:t>Testovacie metriky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Experimentálna časť:</a:t>
            </a:r>
          </a:p>
          <a:p>
            <a:pPr lvl="1"/>
            <a:r>
              <a:rPr lang="sk-SK" sz="2300" b="1" dirty="0">
                <a:solidFill>
                  <a:schemeClr val="bg1"/>
                </a:solidFill>
              </a:rPr>
              <a:t>Uskutočnenie testov</a:t>
            </a:r>
          </a:p>
          <a:p>
            <a:pPr lvl="1"/>
            <a:r>
              <a:rPr lang="sk-SK" sz="2300" b="1" dirty="0">
                <a:solidFill>
                  <a:schemeClr val="bg1"/>
                </a:solidFill>
              </a:rPr>
              <a:t>Vyhodnotenie a porovnanie s LLM</a:t>
            </a:r>
          </a:p>
          <a:p>
            <a:r>
              <a:rPr lang="sk-SK" sz="2700" b="1" dirty="0">
                <a:solidFill>
                  <a:schemeClr val="bg1"/>
                </a:solidFill>
              </a:rPr>
              <a:t>Cieľ – overiť prínos architektúry</a:t>
            </a:r>
          </a:p>
          <a:p>
            <a:endParaRPr lang="sk-SK" sz="2500" b="1" dirty="0">
              <a:solidFill>
                <a:schemeClr val="bg1"/>
              </a:solidFill>
            </a:endParaRPr>
          </a:p>
          <a:p>
            <a:endParaRPr lang="sk-SK" sz="25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9465930"/>
      </p:ext>
    </p:extLst>
  </p:cSld>
  <p:clrMapOvr>
    <a:masterClrMapping/>
  </p:clrMapOvr>
  <p:transition spd="med">
    <p:pull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69E0A-CB78-DA04-F77B-53620D61D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FEAC617-E2FA-89E3-1D3A-D92B80F13B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randview Display"/>
              <a:ea typeface="+mn-ea"/>
              <a:cs typeface="+mn-cs"/>
            </a:endParaRPr>
          </a:p>
        </p:txBody>
      </p:sp>
      <p:pic>
        <p:nvPicPr>
          <p:cNvPr id="4" name="Picture 3" descr="Obrázok, na ktorom je snímka obrazovky, pestrofarebnosť, umenie, vzor&#10;&#10;Obsah vygenerovaný pomocou AI môže byť nesprávny.">
            <a:extLst>
              <a:ext uri="{FF2B5EF4-FFF2-40B4-BE49-F238E27FC236}">
                <a16:creationId xmlns:a16="http://schemas.microsoft.com/office/drawing/2014/main" id="{F7E3E171-8C8D-8452-F6A2-4DAB13E705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 t="31506" b="12244"/>
          <a:stretch>
            <a:fillRect/>
          </a:stretch>
        </p:blipFill>
        <p:spPr>
          <a:xfrm>
            <a:off x="1" y="1"/>
            <a:ext cx="12191999" cy="6857999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2FCD9D8-7503-14DF-59A7-52F6D09A1E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73183" y="173181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0000"/>
                </a:schemeClr>
              </a:gs>
              <a:gs pos="26000">
                <a:schemeClr val="bg1">
                  <a:alpha val="17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8113F59F-E242-F098-9399-31D466115C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8090" y="2172708"/>
            <a:ext cx="10147659" cy="3640303"/>
          </a:xfrm>
        </p:spPr>
        <p:txBody>
          <a:bodyPr anchor="t">
            <a:normAutofit/>
          </a:bodyPr>
          <a:lstStyle/>
          <a:p>
            <a:r>
              <a:rPr lang="sk-SK" sz="8000" dirty="0">
                <a:solidFill>
                  <a:srgbClr val="FFFFFF"/>
                </a:solidFill>
              </a:rPr>
              <a:t>Ďakujem za pozornosť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2569B426-63F2-4D58-C0E6-CBD75F9D88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8090" y="5253050"/>
            <a:ext cx="3888419" cy="969264"/>
          </a:xfrm>
        </p:spPr>
        <p:txBody>
          <a:bodyPr anchor="t">
            <a:normAutofit/>
          </a:bodyPr>
          <a:lstStyle/>
          <a:p>
            <a:endParaRPr lang="sk-SK" sz="2000" dirty="0">
              <a:solidFill>
                <a:srgbClr val="FFFFFF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866850C-B75B-3E3F-AC6E-C7BFC5A1B6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0329" y="4861206"/>
            <a:ext cx="978862" cy="0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735081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2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ppt/theme/theme2.xml><?xml version="1.0" encoding="utf-8"?>
<a:theme xmlns:a="http://schemas.openxmlformats.org/drawingml/2006/main" name="Motí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1B12F2B0132DBD4EB8B6F86465EC0236" ma:contentTypeVersion="6" ma:contentTypeDescription="Umožňuje vytvoriť nový dokument." ma:contentTypeScope="" ma:versionID="d5a5e0b49b178d61f9ecd41930540663">
  <xsd:schema xmlns:xsd="http://www.w3.org/2001/XMLSchema" xmlns:xs="http://www.w3.org/2001/XMLSchema" xmlns:p="http://schemas.microsoft.com/office/2006/metadata/properties" xmlns:ns3="800fcd6c-1b80-4ef0-bca0-4dfac907e310" targetNamespace="http://schemas.microsoft.com/office/2006/metadata/properties" ma:root="true" ma:fieldsID="cd5e29a00545eaf977b3600ef8c11f13" ns3:_="">
    <xsd:import namespace="800fcd6c-1b80-4ef0-bca0-4dfac907e310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AutoTags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00fcd6c-1b80-4ef0-bca0-4dfac907e31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 obsahu"/>
        <xsd:element ref="dc:title" minOccurs="0" maxOccurs="1" ma:index="4" ma:displayName="Nadpis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73D0BA0-5522-438B-8ECA-C13BF2058805}">
  <ds:schemaRefs>
    <ds:schemaRef ds:uri="800fcd6c-1b80-4ef0-bca0-4dfac907e310"/>
    <ds:schemaRef ds:uri="http://www.w3.org/XML/1998/namespace"/>
    <ds:schemaRef ds:uri="http://schemas.microsoft.com/office/2006/documentManagement/types"/>
    <ds:schemaRef ds:uri="http://schemas.openxmlformats.org/package/2006/metadata/core-properties"/>
    <ds:schemaRef ds:uri="http://schemas.microsoft.com/office/2006/metadata/properties"/>
    <ds:schemaRef ds:uri="http://purl.org/dc/dcmitype/"/>
    <ds:schemaRef ds:uri="http://purl.org/dc/elements/1.1/"/>
    <ds:schemaRef ds:uri="http://purl.org/dc/terms/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8DB316FC-9B84-4E00-AC3C-F9BC3EC7A86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CEDBA1B-6753-4522-B79F-AE422852F60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00fcd6c-1b80-4ef0-bca0-4dfac907e3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1006</TotalTime>
  <Words>253</Words>
  <Application>Microsoft Office PowerPoint</Application>
  <PresentationFormat>Širokouhlá</PresentationFormat>
  <Paragraphs>69</Paragraphs>
  <Slides>10</Slides>
  <Notes>1</Notes>
  <HiddenSlides>0</HiddenSlides>
  <MMClips>0</MMClips>
  <ScaleCrop>false</ScaleCrop>
  <HeadingPairs>
    <vt:vector size="6" baseType="variant">
      <vt:variant>
        <vt:lpstr>Použité písma</vt:lpstr>
      </vt:variant>
      <vt:variant>
        <vt:i4>4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10</vt:i4>
      </vt:variant>
    </vt:vector>
  </HeadingPairs>
  <TitlesOfParts>
    <vt:vector size="15" baseType="lpstr">
      <vt:lpstr>Aptos</vt:lpstr>
      <vt:lpstr>Arial</vt:lpstr>
      <vt:lpstr>Grandview Display</vt:lpstr>
      <vt:lpstr>Neue Haas Grotesk Text Pro</vt:lpstr>
      <vt:lpstr>DashVTI</vt:lpstr>
      <vt:lpstr>Využitie umelej inteligencie pri vývoji softvéru</vt:lpstr>
      <vt:lpstr>Architektúra a jej princípy</vt:lpstr>
      <vt:lpstr>Generovanie prípadu použitia</vt:lpstr>
      <vt:lpstr>Návrh architektúry</vt:lpstr>
      <vt:lpstr>Znalostná báza</vt:lpstr>
      <vt:lpstr>Generovanie metód</vt:lpstr>
      <vt:lpstr>Integrácia programu</vt:lpstr>
      <vt:lpstr>Feedback</vt:lpstr>
      <vt:lpstr>Ďalší postup</vt:lpstr>
      <vt:lpstr>Ďakujem za pozornosť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Sokol Samuel</dc:creator>
  <cp:lastModifiedBy>Sokol Samuel</cp:lastModifiedBy>
  <cp:revision>15</cp:revision>
  <dcterms:created xsi:type="dcterms:W3CDTF">2026-03-02T14:19:42Z</dcterms:created>
  <dcterms:modified xsi:type="dcterms:W3CDTF">2026-04-13T08:34:58Z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0x0101001B12F2B0132DBD4EB8B6F86465EC0236</vt:lpwstr>
  </property>
</Properties>
</file>