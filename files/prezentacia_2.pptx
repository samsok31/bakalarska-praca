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56" r:id="rId5"/>
    <p:sldId id="257" r:id="rId6"/>
    <p:sldId id="270" r:id="rId7"/>
    <p:sldId id="264" r:id="rId8"/>
    <p:sldId id="265" r:id="rId9"/>
    <p:sldId id="266" r:id="rId10"/>
    <p:sldId id="267" r:id="rId11"/>
    <p:sldId id="268" r:id="rId12"/>
    <p:sldId id="271" r:id="rId13"/>
    <p:sldId id="269" r:id="rId14"/>
    <p:sldId id="262" r:id="rId15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28E9-82F7-4867-AAC8-D7622F9F9C71}" type="datetimeFigureOut">
              <a:rPr lang="sk-SK" smtClean="0"/>
              <a:t>20. 4. 2026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0DC15-8019-4199-A0E5-533008166C2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66453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0DC15-8019-4199-A0E5-533008166C2B}" type="slidenum">
              <a:rPr lang="sk-SK" smtClean="0"/>
              <a:t>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19226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F5A8-EC4B-AB9A-005A-E662FCF4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66CC516F-F098-4B21-5FD4-28A2FEAC1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037735B4-A46F-A34E-72BB-B33953175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B60C6A5-D111-4318-BAB7-728CDF98B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0DC15-8019-4199-A0E5-533008166C2B}" type="slidenum">
              <a:rPr lang="sk-SK" smtClean="0"/>
              <a:t>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51682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628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26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324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329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096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98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2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69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9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00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91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Obrázok, na ktorom je snímka obrazovky, pestrofarebnosť, umenie, vzor&#10;&#10;Obsah vygenerovaný pomocou AI môže byť nesprávny.">
            <a:extLst>
              <a:ext uri="{FF2B5EF4-FFF2-40B4-BE49-F238E27FC236}">
                <a16:creationId xmlns:a16="http://schemas.microsoft.com/office/drawing/2014/main" id="{39FF2CBF-9B33-605F-1DA4-83A9FCC3A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 t="31506" b="12244"/>
          <a:stretch>
            <a:fillRect/>
          </a:stretch>
        </p:blipFill>
        <p:spPr>
          <a:xfrm>
            <a:off x="1" y="-2"/>
            <a:ext cx="12191999" cy="6857999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D316987-10E1-8667-A311-5ACF6A5DB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090" y="1715389"/>
            <a:ext cx="9932132" cy="3640303"/>
          </a:xfrm>
        </p:spPr>
        <p:txBody>
          <a:bodyPr anchor="t">
            <a:normAutofit/>
          </a:bodyPr>
          <a:lstStyle/>
          <a:p>
            <a:r>
              <a:rPr lang="sk-SK" sz="6000" dirty="0">
                <a:solidFill>
                  <a:srgbClr val="FFFFFF"/>
                </a:solidFill>
              </a:rPr>
              <a:t>Využitie umelej inteligencie pri vývoji softvéru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1D4E783-F86D-C918-7762-C1C061197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49"/>
            <a:ext cx="6568504" cy="1104887"/>
          </a:xfrm>
        </p:spPr>
        <p:txBody>
          <a:bodyPr anchor="t">
            <a:noAutofit/>
          </a:bodyPr>
          <a:lstStyle/>
          <a:p>
            <a:r>
              <a:rPr lang="sk-SK" sz="2000" dirty="0">
                <a:solidFill>
                  <a:srgbClr val="FFFFFF"/>
                </a:solidFill>
              </a:rPr>
              <a:t>Samuel Sokol</a:t>
            </a:r>
          </a:p>
          <a:p>
            <a:r>
              <a:rPr lang="sk-SK" sz="2000" dirty="0">
                <a:solidFill>
                  <a:srgbClr val="FFFFFF"/>
                </a:solidFill>
              </a:rPr>
              <a:t>Školiteľ: </a:t>
            </a:r>
            <a:r>
              <a:rPr lang="sv-SE" sz="2000" dirty="0"/>
              <a:t>doc. Ing. Ivan Polášek, PhD</a:t>
            </a:r>
            <a:r>
              <a:rPr lang="sv-SE" sz="2000" b="0" dirty="0"/>
              <a:t>.</a:t>
            </a:r>
            <a:endParaRPr lang="sk-SK" sz="20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365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A7E0EE-A7DC-51CA-F7F0-1E599DD36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52" y="1094822"/>
            <a:ext cx="11134103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Architektúra a jej princípy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0AB0F65-A22A-B1B7-35BD-5F3D7D937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094" y="2027362"/>
            <a:ext cx="4416906" cy="5079206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Formálna štruktúra zadania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Rozdelenie problému na menšie časti (fragmentácia)</a:t>
            </a:r>
          </a:p>
          <a:p>
            <a:r>
              <a:rPr lang="en-US" sz="2500" b="1" dirty="0" err="1">
                <a:solidFill>
                  <a:schemeClr val="bg1"/>
                </a:solidFill>
              </a:rPr>
              <a:t>Iterat</a:t>
            </a:r>
            <a:r>
              <a:rPr lang="sk-SK" sz="2500" b="1" dirty="0" err="1">
                <a:solidFill>
                  <a:schemeClr val="bg1"/>
                </a:solidFill>
              </a:rPr>
              <a:t>ívne</a:t>
            </a:r>
            <a:r>
              <a:rPr lang="sk-SK" sz="2500" b="1" dirty="0">
                <a:solidFill>
                  <a:schemeClr val="bg1"/>
                </a:solidFill>
              </a:rPr>
              <a:t> zlepšovania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Validácia v každom kroku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Využitie znalostnej bázy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Zapojenie používateľa </a:t>
            </a:r>
            <a:r>
              <a:rPr lang="en-US" sz="2500" b="1" dirty="0">
                <a:solidFill>
                  <a:schemeClr val="bg1"/>
                </a:solidFill>
              </a:rPr>
              <a:t>“</a:t>
            </a:r>
            <a:r>
              <a:rPr lang="sk-SK" sz="2500" b="1" dirty="0" err="1">
                <a:solidFill>
                  <a:schemeClr val="bg1"/>
                </a:solidFill>
              </a:rPr>
              <a:t>Human</a:t>
            </a:r>
            <a:r>
              <a:rPr lang="sk-SK" sz="2500" b="1" dirty="0">
                <a:solidFill>
                  <a:schemeClr val="bg1"/>
                </a:solidFill>
              </a:rPr>
              <a:t> in </a:t>
            </a:r>
            <a:r>
              <a:rPr lang="sk-SK" sz="2500" b="1" dirty="0" err="1">
                <a:solidFill>
                  <a:schemeClr val="bg1"/>
                </a:solidFill>
              </a:rPr>
              <a:t>the</a:t>
            </a:r>
            <a:r>
              <a:rPr lang="sk-SK" sz="2500" b="1" dirty="0">
                <a:solidFill>
                  <a:schemeClr val="bg1"/>
                </a:solidFill>
              </a:rPr>
              <a:t> </a:t>
            </a:r>
            <a:r>
              <a:rPr lang="sk-SK" sz="2500" b="1" dirty="0" err="1">
                <a:solidFill>
                  <a:schemeClr val="bg1"/>
                </a:solidFill>
              </a:rPr>
              <a:t>loop</a:t>
            </a:r>
            <a:r>
              <a:rPr lang="en-US" sz="2500" b="1" dirty="0">
                <a:solidFill>
                  <a:schemeClr val="bg1"/>
                </a:solidFill>
              </a:rPr>
              <a:t>”</a:t>
            </a:r>
            <a:endParaRPr lang="sk-SK" sz="2500" b="1" dirty="0">
              <a:solidFill>
                <a:schemeClr val="bg1"/>
              </a:solidFill>
            </a:endParaRPr>
          </a:p>
          <a:p>
            <a:endParaRPr lang="sk-SK" sz="2500" dirty="0">
              <a:solidFill>
                <a:schemeClr val="bg1"/>
              </a:solidFill>
            </a:endParaRP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41578967-69FC-2F3F-6D0E-87D471F40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54" y="2027362"/>
            <a:ext cx="7143440" cy="435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91549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9994A-3121-3185-6848-CB3E911E2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E81132-F20A-B1FC-CFA9-5796B57C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53" y="1094822"/>
            <a:ext cx="9991290" cy="1097280"/>
          </a:xfrm>
        </p:spPr>
        <p:txBody>
          <a:bodyPr>
            <a:normAutofit/>
          </a:bodyPr>
          <a:lstStyle/>
          <a:p>
            <a:r>
              <a:rPr lang="en-US" sz="5000" dirty="0" err="1">
                <a:solidFill>
                  <a:schemeClr val="bg1"/>
                </a:solidFill>
              </a:rPr>
              <a:t>Generovani</a:t>
            </a:r>
            <a:r>
              <a:rPr lang="sk-SK" sz="5000" dirty="0">
                <a:solidFill>
                  <a:schemeClr val="bg1"/>
                </a:solidFill>
              </a:rPr>
              <a:t>e</a:t>
            </a:r>
            <a:r>
              <a:rPr lang="en-US" sz="5000" dirty="0">
                <a:solidFill>
                  <a:schemeClr val="bg1"/>
                </a:solidFill>
              </a:rPr>
              <a:t> pr</a:t>
            </a:r>
            <a:r>
              <a:rPr lang="sk-SK" sz="5000" dirty="0" err="1">
                <a:solidFill>
                  <a:schemeClr val="bg1"/>
                </a:solidFill>
              </a:rPr>
              <a:t>ípadu</a:t>
            </a:r>
            <a:r>
              <a:rPr lang="sk-SK" sz="5000" dirty="0">
                <a:solidFill>
                  <a:schemeClr val="bg1"/>
                </a:solidFill>
              </a:rPr>
              <a:t> použitia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45C4048-7C81-35C2-B04F-1F129717D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54" y="2192102"/>
            <a:ext cx="6276352" cy="4655914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Transformácia zadania na</a:t>
            </a:r>
            <a:r>
              <a:rPr lang="en-US" sz="2500" b="1" dirty="0">
                <a:solidFill>
                  <a:schemeClr val="bg1"/>
                </a:solidFill>
              </a:rPr>
              <a:t> form</a:t>
            </a:r>
            <a:r>
              <a:rPr lang="sk-SK" sz="2500" b="1" dirty="0" err="1">
                <a:solidFill>
                  <a:schemeClr val="bg1"/>
                </a:solidFill>
              </a:rPr>
              <a:t>álny</a:t>
            </a:r>
            <a:r>
              <a:rPr lang="sk-SK" sz="2500" b="1" dirty="0">
                <a:solidFill>
                  <a:schemeClr val="bg1"/>
                </a:solidFill>
              </a:rPr>
              <a:t> prípad použitia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Extrakcia: 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Funkcionality, scenárov a požiadaviek</a:t>
            </a:r>
          </a:p>
          <a:p>
            <a:pPr lvl="1"/>
            <a:r>
              <a:rPr lang="sk-SK" sz="2300" b="1" dirty="0" err="1">
                <a:solidFill>
                  <a:schemeClr val="bg1"/>
                </a:solidFill>
              </a:rPr>
              <a:t>Preconditions</a:t>
            </a:r>
            <a:r>
              <a:rPr lang="en-US" sz="2300" b="1" dirty="0">
                <a:solidFill>
                  <a:schemeClr val="bg1"/>
                </a:solidFill>
              </a:rPr>
              <a:t>/</a:t>
            </a:r>
            <a:r>
              <a:rPr lang="sk-SK" sz="2300" b="1" dirty="0">
                <a:solidFill>
                  <a:schemeClr val="bg1"/>
                </a:solidFill>
              </a:rPr>
              <a:t>P</a:t>
            </a:r>
            <a:r>
              <a:rPr lang="en-US" sz="2300" b="1" dirty="0" err="1">
                <a:solidFill>
                  <a:schemeClr val="bg1"/>
                </a:solidFill>
              </a:rPr>
              <a:t>ostconditions</a:t>
            </a:r>
            <a:endParaRPr lang="sk-SK" sz="2300" b="1" dirty="0">
              <a:solidFill>
                <a:schemeClr val="bg1"/>
              </a:solidFill>
            </a:endParaRPr>
          </a:p>
          <a:p>
            <a:r>
              <a:rPr lang="en-US" sz="2500" b="1" dirty="0" err="1">
                <a:solidFill>
                  <a:schemeClr val="bg1"/>
                </a:solidFill>
              </a:rPr>
              <a:t>Zdroj</a:t>
            </a:r>
            <a:r>
              <a:rPr lang="en-US" sz="2500" b="1" dirty="0">
                <a:solidFill>
                  <a:schemeClr val="bg1"/>
                </a:solidFill>
              </a:rPr>
              <a:t> </a:t>
            </a:r>
            <a:r>
              <a:rPr lang="en-US" sz="2500" b="1" dirty="0" err="1">
                <a:solidFill>
                  <a:schemeClr val="bg1"/>
                </a:solidFill>
              </a:rPr>
              <a:t>pravdy</a:t>
            </a:r>
            <a:r>
              <a:rPr lang="sk-SK" sz="2500" b="1" dirty="0">
                <a:solidFill>
                  <a:schemeClr val="bg1"/>
                </a:solidFill>
              </a:rPr>
              <a:t> v systéme</a:t>
            </a:r>
          </a:p>
          <a:p>
            <a:r>
              <a:rPr lang="en-US" sz="2500" b="1" dirty="0">
                <a:solidFill>
                  <a:schemeClr val="bg1"/>
                </a:solidFill>
              </a:rPr>
              <a:t>Agent rev</a:t>
            </a:r>
            <a:r>
              <a:rPr lang="sk-SK" sz="2500" b="1" dirty="0" err="1">
                <a:solidFill>
                  <a:schemeClr val="bg1"/>
                </a:solidFill>
              </a:rPr>
              <a:t>ízie</a:t>
            </a:r>
            <a:r>
              <a:rPr lang="sk-SK" sz="2500" b="1" dirty="0">
                <a:solidFill>
                  <a:schemeClr val="bg1"/>
                </a:solidFill>
              </a:rPr>
              <a:t> - iteratívne zlepšovanie a kontrola správnosti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E4E4BEF4-1174-0364-FEB7-044F1F9CF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4024" y="2431648"/>
            <a:ext cx="5208104" cy="317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653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CC789-800A-DBEE-575B-56C211B7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AEC44A-3B30-C21B-9B86-618AF48CB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53" y="1094822"/>
            <a:ext cx="9991290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Návrh architektúry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A8FD7DF-01F6-3ACA-F97F-62CC6EDD8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54" y="2192102"/>
            <a:ext cx="6222370" cy="4655914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Triedy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každá má jednu zodpovednosť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Metódy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reprezentujú konkrétne akcie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Atribúty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reprezentujú stav systému</a:t>
            </a:r>
          </a:p>
          <a:p>
            <a:r>
              <a:rPr lang="en-US" sz="2500" b="1" dirty="0">
                <a:solidFill>
                  <a:schemeClr val="bg1"/>
                </a:solidFill>
              </a:rPr>
              <a:t>Agent rev</a:t>
            </a:r>
            <a:r>
              <a:rPr lang="sk-SK" sz="2500" b="1" dirty="0" err="1">
                <a:solidFill>
                  <a:schemeClr val="bg1"/>
                </a:solidFill>
              </a:rPr>
              <a:t>ízie</a:t>
            </a:r>
            <a:endParaRPr lang="sk-SK" sz="2500" b="1" dirty="0">
              <a:solidFill>
                <a:schemeClr val="bg1"/>
              </a:solidFill>
            </a:endParaRP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kontrola pokrytia</a:t>
            </a:r>
          </a:p>
          <a:p>
            <a:endParaRPr lang="sk-SK" sz="2500" dirty="0">
              <a:solidFill>
                <a:schemeClr val="bg1"/>
              </a:solidFill>
            </a:endParaRP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7CE9B355-F6B0-5E31-8C8F-ED6F9FE43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4024" y="2431648"/>
            <a:ext cx="5208105" cy="317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6677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89B7-077C-6474-6C3B-85AF121A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0F2A01-DCF2-174F-3DCB-F0F22F54B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53" y="1094822"/>
            <a:ext cx="9991290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Znalostná báza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BF9D35-A7E5-7D8F-8341-2C3A46911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2056930"/>
            <a:ext cx="6386514" cy="4655914"/>
          </a:xfrm>
        </p:spPr>
        <p:txBody>
          <a:bodyPr>
            <a:normAutofit/>
          </a:bodyPr>
          <a:lstStyle/>
          <a:p>
            <a:r>
              <a:rPr lang="sk-SK" sz="2500" b="1" dirty="0" err="1">
                <a:solidFill>
                  <a:schemeClr val="bg1"/>
                </a:solidFill>
              </a:rPr>
              <a:t>GraphRAG</a:t>
            </a:r>
            <a:r>
              <a:rPr lang="sk-SK" sz="2500" b="1" dirty="0">
                <a:solidFill>
                  <a:schemeClr val="bg1"/>
                </a:solidFill>
              </a:rPr>
              <a:t> = znalostná báza kódu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Obsah: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triedy, funkcie, atribúty, vzťahy</a:t>
            </a:r>
            <a:endParaRPr lang="sk-SK" sz="2500" b="1" dirty="0">
              <a:solidFill>
                <a:schemeClr val="bg1"/>
              </a:solidFill>
            </a:endParaRPr>
          </a:p>
          <a:p>
            <a:r>
              <a:rPr lang="sk-SK" sz="2500" b="1" dirty="0">
                <a:solidFill>
                  <a:schemeClr val="bg1"/>
                </a:solidFill>
              </a:rPr>
              <a:t>Vyhľadávanie:</a:t>
            </a:r>
          </a:p>
          <a:p>
            <a:pPr lvl="1"/>
            <a:r>
              <a:rPr lang="sk-SK" sz="2300" b="1" dirty="0" err="1">
                <a:solidFill>
                  <a:schemeClr val="bg1"/>
                </a:solidFill>
              </a:rPr>
              <a:t>embeddingy</a:t>
            </a:r>
            <a:r>
              <a:rPr lang="sk-SK" sz="2300" b="1" dirty="0">
                <a:solidFill>
                  <a:schemeClr val="bg1"/>
                </a:solidFill>
              </a:rPr>
              <a:t> + kosínusová podobnosť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Automatické dopĺňanie:</a:t>
            </a:r>
          </a:p>
          <a:p>
            <a:pPr lvl="1"/>
            <a:r>
              <a:rPr lang="sk-SK" sz="2300" b="1" dirty="0" err="1">
                <a:solidFill>
                  <a:schemeClr val="bg1"/>
                </a:solidFill>
              </a:rPr>
              <a:t>GitHub</a:t>
            </a:r>
            <a:r>
              <a:rPr lang="sk-SK" sz="2300" b="1" dirty="0">
                <a:solidFill>
                  <a:schemeClr val="bg1"/>
                </a:solidFill>
              </a:rPr>
              <a:t> repozitáre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Cieľ – aktuálne a znovu použiteľné riešenia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500143A3-0708-37E4-95DC-AFC3FDBB4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4024" y="2431648"/>
            <a:ext cx="5208104" cy="317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9299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CD7B9-EF51-041D-7AFD-D0B4BF010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517086-B185-7CB7-F51B-9E90CDFB4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53" y="1094822"/>
            <a:ext cx="9991290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Generovanie metód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529A5CE-8467-2BE8-E6D3-A696DD4C5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53" y="2110179"/>
            <a:ext cx="6222370" cy="4655914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Generovanie metódy po metóde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Kontext: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Špecifikácia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Atribúty a metódy triedy</a:t>
            </a:r>
          </a:p>
          <a:p>
            <a:pPr lvl="1"/>
            <a:r>
              <a:rPr lang="sk-SK" sz="2300" b="1" dirty="0" err="1">
                <a:solidFill>
                  <a:schemeClr val="bg1"/>
                </a:solidFill>
              </a:rPr>
              <a:t>GraphRAG</a:t>
            </a:r>
            <a:r>
              <a:rPr lang="sk-SK" sz="2300" b="1" dirty="0">
                <a:solidFill>
                  <a:schemeClr val="bg1"/>
                </a:solidFill>
              </a:rPr>
              <a:t> referencie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Syntaktická a sémantická kontrola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Využitie silnej stránky LLM</a:t>
            </a:r>
          </a:p>
          <a:p>
            <a:endParaRPr lang="sk-SK" sz="2500" b="1" dirty="0">
              <a:solidFill>
                <a:schemeClr val="bg1"/>
              </a:solidFill>
            </a:endParaRP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B376F665-2810-A70A-DC59-EA15B208C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4024" y="2431648"/>
            <a:ext cx="5208104" cy="317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30348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52D29-B37C-4EB3-C067-7B570A048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C51EEE-7B90-DCE6-BECC-52C47A67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53" y="1094822"/>
            <a:ext cx="9991290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Integrácia programu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3E79816-CD80-BCE6-3388-A5B16A531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55" y="2118128"/>
            <a:ext cx="6222370" cy="4655914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Spájanie metód do programu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Kontext: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Prípad použitia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Architektúra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Opisy tried, metód, atribútov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Syntaktická a sémantická validácia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Testy – </a:t>
            </a:r>
            <a:r>
              <a:rPr lang="sk-SK" sz="2500" b="1" dirty="0" err="1">
                <a:solidFill>
                  <a:schemeClr val="bg1"/>
                </a:solidFill>
              </a:rPr>
              <a:t>unit</a:t>
            </a:r>
            <a:r>
              <a:rPr lang="sk-SK" sz="2500" b="1" dirty="0">
                <a:solidFill>
                  <a:schemeClr val="bg1"/>
                </a:solidFill>
              </a:rPr>
              <a:t> + integračné</a:t>
            </a:r>
          </a:p>
          <a:p>
            <a:endParaRPr lang="sk-SK" sz="2500" b="1" dirty="0">
              <a:solidFill>
                <a:schemeClr val="bg1"/>
              </a:solidFill>
            </a:endParaRPr>
          </a:p>
          <a:p>
            <a:endParaRPr lang="sk-SK" sz="2500" b="1" dirty="0">
              <a:solidFill>
                <a:schemeClr val="bg1"/>
              </a:solidFill>
            </a:endParaRP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E5D5B6FC-2082-0575-AD76-CCABBBE1A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4025" y="2431648"/>
            <a:ext cx="5208102" cy="317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0453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BA5A8-4705-52CF-5F18-850CB076D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77CED-AF40-4040-5C79-90770A06D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53" y="1094822"/>
            <a:ext cx="9991290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Feedback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A032BC7-FE7E-29D6-5C60-BD18EC584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55" y="2270683"/>
            <a:ext cx="6222370" cy="4655914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Výstup – kód + diagram aktivít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Pripomienky používateľa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Rozlíšenie </a:t>
            </a:r>
            <a:r>
              <a:rPr lang="sk-SK" sz="2500" b="1" dirty="0" err="1">
                <a:solidFill>
                  <a:schemeClr val="bg1"/>
                </a:solidFill>
              </a:rPr>
              <a:t>bug</a:t>
            </a:r>
            <a:r>
              <a:rPr lang="sk-SK" sz="2500" b="1" dirty="0">
                <a:solidFill>
                  <a:schemeClr val="bg1"/>
                </a:solidFill>
              </a:rPr>
              <a:t> </a:t>
            </a:r>
            <a:r>
              <a:rPr lang="sk-SK" sz="2500" b="1" dirty="0" err="1">
                <a:solidFill>
                  <a:schemeClr val="bg1"/>
                </a:solidFill>
              </a:rPr>
              <a:t>vs</a:t>
            </a:r>
            <a:r>
              <a:rPr lang="sk-SK" sz="2500" b="1" dirty="0">
                <a:solidFill>
                  <a:schemeClr val="bg1"/>
                </a:solidFill>
              </a:rPr>
              <a:t> zmena požiadavky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Regenerácia -</a:t>
            </a:r>
            <a:r>
              <a:rPr lang="en-US" sz="2500" b="1" dirty="0">
                <a:solidFill>
                  <a:schemeClr val="bg1"/>
                </a:solidFill>
              </a:rPr>
              <a:t> pr</a:t>
            </a:r>
            <a:r>
              <a:rPr lang="sk-SK" sz="2500" b="1" dirty="0" err="1">
                <a:solidFill>
                  <a:schemeClr val="bg1"/>
                </a:solidFill>
              </a:rPr>
              <a:t>ípad</a:t>
            </a:r>
            <a:r>
              <a:rPr lang="sk-SK" sz="2500" b="1" dirty="0">
                <a:solidFill>
                  <a:schemeClr val="bg1"/>
                </a:solidFill>
              </a:rPr>
              <a:t> použitia</a:t>
            </a:r>
            <a:r>
              <a:rPr lang="en-US" sz="2500" b="1" dirty="0">
                <a:solidFill>
                  <a:schemeClr val="bg1"/>
                </a:solidFill>
              </a:rPr>
              <a:t>/k</a:t>
            </a:r>
            <a:r>
              <a:rPr lang="sk-SK" sz="2500" b="1" dirty="0">
                <a:solidFill>
                  <a:schemeClr val="bg1"/>
                </a:solidFill>
              </a:rPr>
              <a:t>ód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Selekcia ovplyvnených častí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Vloženie programu do znalostnej bázy</a:t>
            </a:r>
          </a:p>
          <a:p>
            <a:endParaRPr lang="sk-SK" sz="2500" b="1" dirty="0">
              <a:solidFill>
                <a:schemeClr val="bg1"/>
              </a:solidFill>
            </a:endParaRPr>
          </a:p>
          <a:p>
            <a:endParaRPr lang="sk-SK" sz="2500" b="1" dirty="0">
              <a:solidFill>
                <a:schemeClr val="bg1"/>
              </a:solidFill>
            </a:endParaRP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E5E3CFE4-6796-B3D0-C098-9596982AF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4025" y="2431648"/>
            <a:ext cx="5208102" cy="317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4408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596CC-4ADB-AADA-0C1C-25B2C590D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F49AFC-2DFE-3CE4-371A-1FEE1E7C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53" y="1094822"/>
            <a:ext cx="9991290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Experimentálna časť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C6F147A-C71D-974A-C113-52D2D6BD6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52" y="1920638"/>
            <a:ext cx="11262691" cy="5058805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Testovacie subjekty: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LLM </a:t>
            </a:r>
            <a:r>
              <a:rPr lang="sk-SK" sz="2300" b="1" dirty="0" err="1">
                <a:solidFill>
                  <a:schemeClr val="bg1"/>
                </a:solidFill>
              </a:rPr>
              <a:t>vs</a:t>
            </a:r>
            <a:r>
              <a:rPr lang="sk-SK" sz="2300" b="1" dirty="0">
                <a:solidFill>
                  <a:schemeClr val="bg1"/>
                </a:solidFill>
              </a:rPr>
              <a:t>. Náš </a:t>
            </a:r>
            <a:r>
              <a:rPr lang="sk-SK" sz="2300" b="1" dirty="0" err="1">
                <a:solidFill>
                  <a:schemeClr val="bg1"/>
                </a:solidFill>
              </a:rPr>
              <a:t>agentický</a:t>
            </a:r>
            <a:r>
              <a:rPr lang="sk-SK" sz="2300" b="1" dirty="0">
                <a:solidFill>
                  <a:schemeClr val="bg1"/>
                </a:solidFill>
              </a:rPr>
              <a:t> systém </a:t>
            </a:r>
            <a:r>
              <a:rPr lang="sk-SK" sz="2300" b="1" dirty="0" err="1">
                <a:solidFill>
                  <a:schemeClr val="bg1"/>
                </a:solidFill>
              </a:rPr>
              <a:t>vs</a:t>
            </a:r>
            <a:r>
              <a:rPr lang="sk-SK" sz="2300" b="1" dirty="0">
                <a:solidFill>
                  <a:schemeClr val="bg1"/>
                </a:solidFill>
              </a:rPr>
              <a:t>. </a:t>
            </a:r>
            <a:r>
              <a:rPr lang="sk-SK" sz="2300" b="1" dirty="0" err="1">
                <a:solidFill>
                  <a:schemeClr val="bg1"/>
                </a:solidFill>
              </a:rPr>
              <a:t>Roo</a:t>
            </a:r>
            <a:r>
              <a:rPr lang="sk-SK" sz="2300" b="1" dirty="0">
                <a:solidFill>
                  <a:schemeClr val="bg1"/>
                </a:solidFill>
              </a:rPr>
              <a:t> </a:t>
            </a:r>
            <a:r>
              <a:rPr lang="sk-SK" sz="2300" b="1" dirty="0" err="1">
                <a:solidFill>
                  <a:schemeClr val="bg1"/>
                </a:solidFill>
              </a:rPr>
              <a:t>Code</a:t>
            </a:r>
            <a:endParaRPr lang="sk-SK" sz="2300" b="1" dirty="0">
              <a:solidFill>
                <a:schemeClr val="bg1"/>
              </a:solidFill>
            </a:endParaRPr>
          </a:p>
          <a:p>
            <a:r>
              <a:rPr lang="sk-SK" sz="2500" b="1" dirty="0">
                <a:solidFill>
                  <a:schemeClr val="bg1"/>
                </a:solidFill>
              </a:rPr>
              <a:t>Testovanie na dvoch zadaniach:</a:t>
            </a:r>
          </a:p>
          <a:p>
            <a:pPr lvl="1"/>
            <a:r>
              <a:rPr lang="sk-SK" sz="2300" b="1" dirty="0" err="1">
                <a:solidFill>
                  <a:schemeClr val="bg1"/>
                </a:solidFill>
              </a:rPr>
              <a:t>Reservation</a:t>
            </a:r>
            <a:r>
              <a:rPr lang="sk-SK" sz="2300" b="1" dirty="0">
                <a:solidFill>
                  <a:schemeClr val="bg1"/>
                </a:solidFill>
              </a:rPr>
              <a:t> </a:t>
            </a:r>
            <a:r>
              <a:rPr lang="sk-SK" sz="2300" b="1" dirty="0" err="1">
                <a:solidFill>
                  <a:schemeClr val="bg1"/>
                </a:solidFill>
              </a:rPr>
              <a:t>system</a:t>
            </a:r>
            <a:endParaRPr lang="sk-SK" sz="2300" b="1" dirty="0">
              <a:solidFill>
                <a:schemeClr val="bg1"/>
              </a:solidFill>
            </a:endParaRP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E-</a:t>
            </a:r>
            <a:r>
              <a:rPr lang="sk-SK" sz="2300" b="1" dirty="0" err="1">
                <a:solidFill>
                  <a:schemeClr val="bg1"/>
                </a:solidFill>
              </a:rPr>
              <a:t>shop</a:t>
            </a:r>
            <a:r>
              <a:rPr lang="sk-SK" sz="2300" b="1" dirty="0">
                <a:solidFill>
                  <a:schemeClr val="bg1"/>
                </a:solidFill>
              </a:rPr>
              <a:t> </a:t>
            </a:r>
            <a:r>
              <a:rPr lang="sk-SK" sz="2300" b="1" dirty="0" err="1">
                <a:solidFill>
                  <a:schemeClr val="bg1"/>
                </a:solidFill>
              </a:rPr>
              <a:t>backend</a:t>
            </a:r>
            <a:r>
              <a:rPr lang="sk-SK" sz="2300" b="1" dirty="0">
                <a:solidFill>
                  <a:schemeClr val="bg1"/>
                </a:solidFill>
              </a:rPr>
              <a:t> </a:t>
            </a:r>
            <a:r>
              <a:rPr lang="sk-SK" sz="2300" b="1" dirty="0" err="1">
                <a:solidFill>
                  <a:schemeClr val="bg1"/>
                </a:solidFill>
              </a:rPr>
              <a:t>system</a:t>
            </a:r>
            <a:endParaRPr lang="sk-SK" sz="2300" b="1" dirty="0">
              <a:solidFill>
                <a:schemeClr val="bg1"/>
              </a:solidFill>
            </a:endParaRPr>
          </a:p>
          <a:p>
            <a:r>
              <a:rPr lang="sk-SK" sz="2500" b="1" dirty="0">
                <a:solidFill>
                  <a:schemeClr val="bg1"/>
                </a:solidFill>
              </a:rPr>
              <a:t>Metriky: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F1 skóre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Počet prejdených testov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Zložitosť a čistota kódu</a:t>
            </a:r>
          </a:p>
          <a:p>
            <a:endParaRPr lang="sk-SK" sz="2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539799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77A15-D25B-D13C-A670-AABFD25CD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7D3828-4883-CA7F-5F4C-9D6E2CB7A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653" y="1266272"/>
            <a:ext cx="9991290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Ďalší postup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DFC13D5-2F04-C773-3174-541528133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03" y="2548260"/>
            <a:ext cx="6222370" cy="4655914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Dokončenie experimentálnej časti: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Dokončenie získavania výstupov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Analyzovanie výstupov</a:t>
            </a:r>
          </a:p>
          <a:p>
            <a:pPr lvl="1"/>
            <a:r>
              <a:rPr lang="sk-SK" sz="2300" b="1" dirty="0">
                <a:solidFill>
                  <a:schemeClr val="bg1"/>
                </a:solidFill>
              </a:rPr>
              <a:t>Sformulovanie zistení</a:t>
            </a:r>
          </a:p>
          <a:p>
            <a:r>
              <a:rPr lang="sk-SK" sz="2700" b="1" dirty="0">
                <a:solidFill>
                  <a:schemeClr val="bg1"/>
                </a:solidFill>
              </a:rPr>
              <a:t>Cieľ – overiť prínos architektúry </a:t>
            </a:r>
          </a:p>
          <a:p>
            <a:endParaRPr lang="sk-SK" sz="2500" b="1" dirty="0">
              <a:solidFill>
                <a:schemeClr val="bg1"/>
              </a:solidFill>
            </a:endParaRPr>
          </a:p>
          <a:p>
            <a:endParaRPr lang="sk-SK" sz="2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465930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69E0A-CB78-DA04-F77B-53620D61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FEAC617-E2FA-89E3-1D3A-D92B80F13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Obrázok, na ktorom je snímka obrazovky, pestrofarebnosť, umenie, vzor&#10;&#10;Obsah vygenerovaný pomocou AI môže byť nesprávny.">
            <a:extLst>
              <a:ext uri="{FF2B5EF4-FFF2-40B4-BE49-F238E27FC236}">
                <a16:creationId xmlns:a16="http://schemas.microsoft.com/office/drawing/2014/main" id="{F7E3E171-8C8D-8452-F6A2-4DAB13E70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 t="31506" b="12244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2FCD9D8-7503-14DF-59A7-52F6D09A1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113F59F-E242-F098-9399-31D466115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090" y="2172708"/>
            <a:ext cx="10147659" cy="3640303"/>
          </a:xfrm>
        </p:spPr>
        <p:txBody>
          <a:bodyPr anchor="t">
            <a:normAutofit/>
          </a:bodyPr>
          <a:lstStyle/>
          <a:p>
            <a:r>
              <a:rPr lang="sk-SK" sz="8000" dirty="0">
                <a:solidFill>
                  <a:srgbClr val="FFFFFF"/>
                </a:solidFill>
              </a:rPr>
              <a:t>Ďakujem za pozornosť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569B426-63F2-4D58-C0E6-CBD75F9D8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sk-SK" sz="20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66850C-B75B-3E3F-AC6E-C7BFC5A1B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350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12F2B0132DBD4EB8B6F86465EC0236" ma:contentTypeVersion="6" ma:contentTypeDescription="Umožňuje vytvoriť nový dokument." ma:contentTypeScope="" ma:versionID="d5a5e0b49b178d61f9ecd41930540663">
  <xsd:schema xmlns:xsd="http://www.w3.org/2001/XMLSchema" xmlns:xs="http://www.w3.org/2001/XMLSchema" xmlns:p="http://schemas.microsoft.com/office/2006/metadata/properties" xmlns:ns3="800fcd6c-1b80-4ef0-bca0-4dfac907e310" targetNamespace="http://schemas.microsoft.com/office/2006/metadata/properties" ma:root="true" ma:fieldsID="cd5e29a00545eaf977b3600ef8c11f13" ns3:_="">
    <xsd:import namespace="800fcd6c-1b80-4ef0-bca0-4dfac907e31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Auto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0fcd6c-1b80-4ef0-bca0-4dfac907e3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EDBA1B-6753-4522-B79F-AE422852F6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0fcd6c-1b80-4ef0-bca0-4dfac907e3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3D0BA0-5522-438B-8ECA-C13BF2058805}">
  <ds:schemaRefs>
    <ds:schemaRef ds:uri="800fcd6c-1b80-4ef0-bca0-4dfac907e310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DB316FC-9B84-4E00-AC3C-F9BC3EC7A8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280</Words>
  <Application>Microsoft Office PowerPoint</Application>
  <PresentationFormat>Širokouhlá</PresentationFormat>
  <Paragraphs>77</Paragraphs>
  <Slides>11</Slides>
  <Notes>2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11</vt:i4>
      </vt:variant>
    </vt:vector>
  </HeadingPairs>
  <TitlesOfParts>
    <vt:vector size="16" baseType="lpstr">
      <vt:lpstr>Aptos</vt:lpstr>
      <vt:lpstr>Arial</vt:lpstr>
      <vt:lpstr>Grandview Display</vt:lpstr>
      <vt:lpstr>Neue Haas Grotesk Text Pro</vt:lpstr>
      <vt:lpstr>DashVTI</vt:lpstr>
      <vt:lpstr>Využitie umelej inteligencie pri vývoji softvéru</vt:lpstr>
      <vt:lpstr>Architektúra a jej princípy</vt:lpstr>
      <vt:lpstr>Generovanie prípadu použitia</vt:lpstr>
      <vt:lpstr>Návrh architektúry</vt:lpstr>
      <vt:lpstr>Znalostná báza</vt:lpstr>
      <vt:lpstr>Generovanie metód</vt:lpstr>
      <vt:lpstr>Integrácia programu</vt:lpstr>
      <vt:lpstr>Feedback</vt:lpstr>
      <vt:lpstr>Experimentálna časť</vt:lpstr>
      <vt:lpstr>Ďalší postup</vt:lpstr>
      <vt:lpstr>Ďakujem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Sokol Samuel</dc:creator>
  <cp:lastModifiedBy>Sokol Samuel</cp:lastModifiedBy>
  <cp:revision>16</cp:revision>
  <dcterms:created xsi:type="dcterms:W3CDTF">2026-03-02T14:19:42Z</dcterms:created>
  <dcterms:modified xsi:type="dcterms:W3CDTF">2026-04-20T14:58:13Z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0x0101001B12F2B0132DBD4EB8B6F86465EC0236</vt:lpwstr>
  </property>
</Properties>
</file>